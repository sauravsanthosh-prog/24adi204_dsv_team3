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(Stayed)</c:v>
                </c:pt>
                <c:pt idx="1">
                  <c:v>Yes (Left)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84</c:v>
                </c:pt>
                <c:pt idx="1">
                  <c:v>16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C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A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F1 Score</c:v>
                  </c:pt>
                  <c:pt idx="2">
                    <c:v>ROC-AUC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85</c:v>
                </c:pt>
                <c:pt idx="2">
                  <c:v>92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B2A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A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Sales</c:v>
                  </c:pt>
                  <c:pt idx="1">
                    <c:v>Human Resources</c:v>
                  </c:pt>
                  <c:pt idx="2">
                    <c:v>R&amp;D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</c:v>
                </c:pt>
                <c:pt idx="1">
                  <c:v>19</c:v>
                </c:pt>
                <c:pt idx="2">
                  <c:v>13.8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B2A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2.png"/><Relationship Id="rId10" Type="http://schemas.openxmlformats.org/officeDocument/2006/relationships/image" Target="../media/image-7-10.png"/><Relationship Id="rId11" Type="http://schemas.openxmlformats.org/officeDocument/2006/relationships/image" Target="../media/image-7-2.png"/><Relationship Id="rId12" Type="http://schemas.openxmlformats.org/officeDocument/2006/relationships/image" Target="../media/image-7-12.png"/><Relationship Id="rId13" Type="http://schemas.openxmlformats.org/officeDocument/2006/relationships/image" Target="../media/image-7-2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0B3D4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194560" cy="21945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and Analyzing Employee Turnover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HR Analytics  |  IBM HR Analytics Dataset (Kaggle)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6492240" cy="1874520"/>
          </a:xfrm>
          <a:prstGeom prst="roundRect">
            <a:avLst>
              <a:gd name="adj" fmla="val 3902"/>
            </a:avLst>
          </a:prstGeom>
          <a:solidFill>
            <a:srgbClr val="0C3948"/>
          </a:solidFill>
          <a:ln w="12700">
            <a:solidFill>
              <a:srgbClr val="135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370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773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Varma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50292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25BAD090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69080" y="4773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Saurav Santhosh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50292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25BAD104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5394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Sinan Ubaid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56509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25BAD107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69080" y="5394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Nishanth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56509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25BAD070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52360" y="420624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44074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F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26680" y="46268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26680" y="49560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F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26680" y="5175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&amp; AI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26680" y="55046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F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26680" y="57241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Attrition &amp; Performance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is a major organizational challenge. This project uses Machine Learning to predict turnover and help HR teams intervene early with data-driven retention strategies.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4231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399" y="255071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0175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to predict whether an employee is likely to leave.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1488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799" y="255071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404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Intelligence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30175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Dataset analyzing age, department, income, satisfaction, overtime, tenure, and performance.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42519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45262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399" y="465383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507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Identification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05840" y="5120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employees at risk of attrition before they resign.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2519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5262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799" y="465383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5079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5120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for attrition monitoring, risk scoring, and workforce decision support.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impact of employee attrition is crucial for any organization. This project addresses turnover by replacing guesswork with AI-driven, proactive decisions.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5B6C70"/>
          </a:solidFill>
          <a:ln/>
        </p:spPr>
      </p:sp>
      <p:pic>
        <p:nvPicPr>
          <p:cNvPr id="6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" y="24094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HR Approach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633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24128" y="3182112"/>
            <a:ext cx="73152" cy="73152"/>
          </a:xfrm>
          <a:prstGeom prst="ellipse">
            <a:avLst/>
          </a:prstGeom>
          <a:solidFill>
            <a:srgbClr val="5B6C70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05409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only after an employee has already decided to leave.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24128" y="3730752"/>
            <a:ext cx="73152" cy="73152"/>
          </a:xfrm>
          <a:prstGeom prst="ellipse">
            <a:avLst/>
          </a:prstGeom>
          <a:solidFill>
            <a:srgbClr val="5B6C70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36027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exit interviews and gut-feel judgment, not data.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24128" y="4279392"/>
            <a:ext cx="73152" cy="73152"/>
          </a:xfrm>
          <a:prstGeom prst="ellipse">
            <a:avLst/>
          </a:prstGeom>
          <a:solidFill>
            <a:srgbClr val="5B6C70"/>
          </a:solidFill>
          <a:ln/>
        </p:spPr>
      </p:sp>
      <p:sp>
        <p:nvSpPr>
          <p:cNvPr id="14" name="Text 11"/>
          <p:cNvSpPr/>
          <p:nvPr/>
        </p:nvSpPr>
        <p:spPr>
          <a:xfrm>
            <a:off x="1234440" y="415137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turnover keeps eroding team productivity and morale.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024128" y="4828032"/>
            <a:ext cx="73152" cy="73152"/>
          </a:xfrm>
          <a:prstGeom prst="ellipse">
            <a:avLst/>
          </a:prstGeom>
          <a:solidFill>
            <a:srgbClr val="5B6C70"/>
          </a:solidFill>
          <a:ln/>
        </p:spPr>
      </p:sp>
      <p:sp>
        <p:nvSpPr>
          <p:cNvPr id="16" name="Text 13"/>
          <p:cNvSpPr/>
          <p:nvPr/>
        </p:nvSpPr>
        <p:spPr>
          <a:xfrm>
            <a:off x="1234440" y="470001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walks out the door with every exit.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09360" y="201168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1B2A2F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8368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124" y="2409444"/>
            <a:ext cx="301752" cy="301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Approach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15200" y="26334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601968" y="31821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305409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at-risk employees weeks or months before they resign.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601968" y="373075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1"/>
          <p:cNvSpPr/>
          <p:nvPr/>
        </p:nvSpPr>
        <p:spPr>
          <a:xfrm>
            <a:off x="6812280" y="360273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real data — satisfaction, overtime, income.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601968" y="427939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3"/>
          <p:cNvSpPr/>
          <p:nvPr/>
        </p:nvSpPr>
        <p:spPr>
          <a:xfrm>
            <a:off x="6812280" y="415137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HR time to act with targeted, timely retention offers.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601968" y="482803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5"/>
          <p:cNvSpPr/>
          <p:nvPr/>
        </p:nvSpPr>
        <p:spPr>
          <a:xfrm>
            <a:off x="6812280" y="4700016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HR from a reactive function into a strategic one.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31520" y="5486400"/>
            <a:ext cx="10725912" cy="777240"/>
          </a:xfrm>
          <a:prstGeom prst="roundRect">
            <a:avLst>
              <a:gd name="adj" fmla="val 9412"/>
            </a:avLst>
          </a:prstGeom>
          <a:solidFill>
            <a:srgbClr val="04293A"/>
          </a:solidFill>
          <a:ln/>
        </p:spPr>
      </p:sp>
      <p:sp>
        <p:nvSpPr>
          <p:cNvPr id="31" name="Text 27"/>
          <p:cNvSpPr/>
          <p:nvPr/>
        </p:nvSpPr>
        <p:spPr>
          <a:xfrm>
            <a:off x="1005840" y="548640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50–200% of annual salary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it costs to replace a single employee through hiring, onboarding, and training. Prevention is cheaper than replacement.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Why Employee Attrition Demands AI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1024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face mounting pressure from turnover — a costly challenge increasingly difficult to manage with traditional, intuition-based approaches.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633" y="21248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7919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Turnover Rates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3227832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lose 10–30% of workforce annually, disrupting operations.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62656" y="17830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53612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brainL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769" y="212483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99816" y="267919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Institutional Knowledge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99816" y="3227832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experienced employees leave, critical expertise is lost.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93792" y="17830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84748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manu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905" y="212483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30952" y="267919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HR Decision-Making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330952" y="3227832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Gut-feel retention strategies lack predictive accuracy.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424928" y="17830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15884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co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041" y="212483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62088" y="267919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Replacement Costs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562088" y="3227832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one employee can cost 50–200% of annual salary.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656064" y="178308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44702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s/produ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0177" y="212483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93224" y="2679192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Loss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93224" y="3227832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teams absorb extra workload, reducing morale.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31520" y="4315968"/>
            <a:ext cx="10725912" cy="777240"/>
          </a:xfrm>
          <a:prstGeom prst="roundRect">
            <a:avLst>
              <a:gd name="adj" fmla="val 9412"/>
            </a:avLst>
          </a:prstGeom>
          <a:solidFill>
            <a:srgbClr val="04293A"/>
          </a:solidFill>
          <a:ln/>
        </p:spPr>
      </p:sp>
      <p:sp>
        <p:nvSpPr>
          <p:cNvPr id="30" name="Text 23"/>
          <p:cNvSpPr/>
          <p:nvPr/>
        </p:nvSpPr>
        <p:spPr>
          <a:xfrm>
            <a:off x="1005840" y="431596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AI-powered attrition prediction system that identifies high-risk employees and empowers HR teams with data-driven retention strategies.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measurable goals guiding the project's execution.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07259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08760" y="19522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917" y="2065401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190195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Attrition Accurately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80760" y="1911096"/>
            <a:ext cx="0" cy="585216"/>
          </a:xfrm>
          <a:prstGeom prst="line">
            <a:avLst/>
          </a:prstGeom>
          <a:noFill/>
          <a:ln w="12700">
            <a:solidFill>
              <a:srgbClr val="E1EB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1783080"/>
            <a:ext cx="4965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supervised ML models on IBM HR data to classify whether an employee is likely to leave.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2734056"/>
            <a:ext cx="107259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2734056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508760" y="29032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17" y="301637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40280" y="285292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Turnover Drivers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80760" y="2862072"/>
            <a:ext cx="0" cy="585216"/>
          </a:xfrm>
          <a:prstGeom prst="line">
            <a:avLst/>
          </a:prstGeom>
          <a:noFill/>
          <a:ln w="12700">
            <a:solidFill>
              <a:srgbClr val="E1EB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09360" y="2734056"/>
            <a:ext cx="4965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 importance analysis to surface the strongest predictors, such as overtime and income.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31520" y="3685032"/>
            <a:ext cx="107259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68680" y="368503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1508760" y="38541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17" y="3967353"/>
            <a:ext cx="276606" cy="27660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40280" y="3803904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ML Algorithms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080760" y="3813048"/>
            <a:ext cx="0" cy="585216"/>
          </a:xfrm>
          <a:prstGeom prst="line">
            <a:avLst/>
          </a:prstGeom>
          <a:noFill/>
          <a:ln w="12700">
            <a:solidFill>
              <a:srgbClr val="E1EBE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09360" y="3685032"/>
            <a:ext cx="4965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Logistic Regression, Decision Tree, Random Forest, and XGBoost to pick the best model.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31520" y="4636008"/>
            <a:ext cx="107259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68680" y="4636008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1508760" y="480517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3" descr="icons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917" y="4918329"/>
            <a:ext cx="276606" cy="27660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240280" y="47548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Dashboard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080760" y="4764024"/>
            <a:ext cx="0" cy="585216"/>
          </a:xfrm>
          <a:prstGeom prst="line">
            <a:avLst/>
          </a:prstGeom>
          <a:noFill/>
          <a:ln w="12700">
            <a:solidFill>
              <a:srgbClr val="E1EBE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309360" y="4636008"/>
            <a:ext cx="4965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Streamlit app so HR teams can score employees and explore risk factors in real time.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731520" y="5586984"/>
            <a:ext cx="107259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68680" y="5586984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1508760" y="57561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4" descr="icons/handshak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917" y="5869305"/>
            <a:ext cx="276606" cy="27660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240280" y="5705856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Data-Driven Retention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6080760" y="5715000"/>
            <a:ext cx="0" cy="585216"/>
          </a:xfrm>
          <a:prstGeom prst="line">
            <a:avLst/>
          </a:prstGeom>
          <a:noFill/>
          <a:ln w="12700">
            <a:solidFill>
              <a:srgbClr val="E1EBE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309360" y="5586984"/>
            <a:ext cx="496519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model outputs into actionable retention strategies instead of reactive replacement hiring.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IBM HR Analytics (Kaggle)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Split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3886200"/>
          <a:ext cx="33832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263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1,233 stayed  ·  237 left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80560" y="1234440"/>
            <a:ext cx="3291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14356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0" descr="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598" y="153847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66944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81728" y="1947672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Marital Status, Education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01000" y="1234440"/>
            <a:ext cx="3291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02168" y="14356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1" descr="icons/chart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038" y="153847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87384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Details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02168" y="1947672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Job Role, Business Travel, Overtime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480560" y="2761488"/>
            <a:ext cx="3291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81728" y="29626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2" descr="icons/sm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598" y="3065526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944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681728" y="347472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Satisfaction, Work-Life Balance, Environment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001000" y="2761488"/>
            <a:ext cx="32918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02168" y="29626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7" name="Image 3" descr="icons/t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038" y="3065526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787384" y="2944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Tenure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8202168" y="3474720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Income, Performance Rating, Years at Company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End-to-End ML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eight-stage pipeline turns raw IBM HR data into attrition insights for HR decision support.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2821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51076" y="1984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fileIm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4233" y="2097405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62432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IBM HR dataset from Kaggle.</a:t>
            </a:r>
            <a:endParaRPr lang="en-US" sz="950" dirty="0"/>
          </a:p>
        </p:txBody>
      </p:sp>
      <p:pic>
        <p:nvPicPr>
          <p:cNvPr id="10" name="Image 1" descr="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124" y="2592324"/>
            <a:ext cx="128016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0712" y="160020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575304" y="172821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430268" y="1984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icons/bro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425" y="2097405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47872" y="262432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47872" y="3063240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constant columns, encode categories.</a:t>
            </a:r>
            <a:endParaRPr lang="en-US" sz="950" dirty="0"/>
          </a:p>
        </p:txBody>
      </p:sp>
      <p:pic>
        <p:nvPicPr>
          <p:cNvPr id="17" name="Image 3" descr="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2592324"/>
            <a:ext cx="128016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89904" y="160020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254496" y="172821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7109460" y="1984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icons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2617" y="2097405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27064" y="262432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227064" y="3063240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attrition by department, income, overtime, satisfaction.</a:t>
            </a:r>
            <a:endParaRPr lang="en-US" sz="950" dirty="0"/>
          </a:p>
        </p:txBody>
      </p:sp>
      <p:pic>
        <p:nvPicPr>
          <p:cNvPr id="24" name="Image 5" descr="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508" y="2592324"/>
            <a:ext cx="128016" cy="1645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769096" y="160020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8933688" y="172821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9788652" y="1984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6" descr="icons/cog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1809" y="2097405"/>
            <a:ext cx="276606" cy="27660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906256" y="2624328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8906256" y="3063240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encoding, one-hot encoding, SMOTE, scaling.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731520" y="4005072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896112" y="41330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1751076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7" descr="icons/robo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4233" y="4502277"/>
            <a:ext cx="276606" cy="27660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68680" y="502920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868680" y="5468112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Regression, Decision Tree, Random Forest, XGBoost.</a:t>
            </a:r>
            <a:endParaRPr lang="en-US" sz="950" dirty="0"/>
          </a:p>
        </p:txBody>
      </p:sp>
      <p:pic>
        <p:nvPicPr>
          <p:cNvPr id="37" name="Image 8" descr="icon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8124" y="4997196"/>
            <a:ext cx="128016" cy="164592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3410712" y="4005072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39" name="Text 28"/>
          <p:cNvSpPr/>
          <p:nvPr/>
        </p:nvSpPr>
        <p:spPr>
          <a:xfrm>
            <a:off x="3575304" y="41330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40" name="Shape 29"/>
          <p:cNvSpPr/>
          <p:nvPr/>
        </p:nvSpPr>
        <p:spPr>
          <a:xfrm>
            <a:off x="4430268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9" descr="icons/chartPi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3425" y="4502277"/>
            <a:ext cx="276606" cy="276606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3547872" y="502920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3547872" y="5468112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Yes/No attrition predictions with risk scores.</a:t>
            </a:r>
            <a:endParaRPr lang="en-US" sz="950" dirty="0"/>
          </a:p>
        </p:txBody>
      </p:sp>
      <p:pic>
        <p:nvPicPr>
          <p:cNvPr id="44" name="Image 10" descr="icons/arrow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7316" y="4997196"/>
            <a:ext cx="128016" cy="164592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6089904" y="4005072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46" name="Text 33"/>
          <p:cNvSpPr/>
          <p:nvPr/>
        </p:nvSpPr>
        <p:spPr>
          <a:xfrm>
            <a:off x="6254496" y="41330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47" name="Shape 34"/>
          <p:cNvSpPr/>
          <p:nvPr/>
        </p:nvSpPr>
        <p:spPr>
          <a:xfrm>
            <a:off x="7109460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8" name="Image 11" descr="icons/deskto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2617" y="4502277"/>
            <a:ext cx="276606" cy="276606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6227064" y="502920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50" name="Text 36"/>
          <p:cNvSpPr/>
          <p:nvPr/>
        </p:nvSpPr>
        <p:spPr>
          <a:xfrm>
            <a:off x="6227064" y="5468112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for real-time input, scoring, and analytics.</a:t>
            </a:r>
            <a:endParaRPr lang="en-US" sz="950" dirty="0"/>
          </a:p>
        </p:txBody>
      </p:sp>
      <p:pic>
        <p:nvPicPr>
          <p:cNvPr id="51" name="Image 12" descr="icons/arrowRigh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6508" y="4997196"/>
            <a:ext cx="128016" cy="164592"/>
          </a:xfrm>
          <a:prstGeom prst="rect">
            <a:avLst/>
          </a:prstGeom>
        </p:spPr>
      </p:pic>
      <p:sp>
        <p:nvSpPr>
          <p:cNvPr id="52" name="Shape 37"/>
          <p:cNvSpPr/>
          <p:nvPr/>
        </p:nvSpPr>
        <p:spPr>
          <a:xfrm>
            <a:off x="8769096" y="4005072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53" name="Text 38"/>
          <p:cNvSpPr/>
          <p:nvPr/>
        </p:nvSpPr>
        <p:spPr>
          <a:xfrm>
            <a:off x="8933688" y="41330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E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54" name="Shape 39"/>
          <p:cNvSpPr/>
          <p:nvPr/>
        </p:nvSpPr>
        <p:spPr>
          <a:xfrm>
            <a:off x="9788652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5" name="Image 13" descr="icons/handshak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01809" y="4502277"/>
            <a:ext cx="276606" cy="276606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8906256" y="502920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Decision Support</a:t>
            </a:r>
            <a:endParaRPr lang="en-US" sz="1200" dirty="0"/>
          </a:p>
        </p:txBody>
      </p:sp>
      <p:sp>
        <p:nvSpPr>
          <p:cNvPr id="57" name="Text 41"/>
          <p:cNvSpPr/>
          <p:nvPr/>
        </p:nvSpPr>
        <p:spPr>
          <a:xfrm>
            <a:off x="8906256" y="5468112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risk factors and recommend targeted retention actions.</a:t>
            </a:r>
            <a:endParaRPr lang="en-US" sz="950" dirty="0"/>
          </a:p>
        </p:txBody>
      </p:sp>
      <p:sp>
        <p:nvSpPr>
          <p:cNvPr id="58" name="Text 4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59" name="Text 4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uses a standard Python ecosystem for data processing, modeling, and dashboard deployment.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1305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" y="225399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2807208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IDE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87552" y="315468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· Jupyter Notebook, VS 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0832" y="187452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21305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225399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807208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26864" y="315468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 · Joblib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7452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66176" y="21305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225399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66176" y="2807208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66176" y="315468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XGBoost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93192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552" y="41879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chartAr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" y="431139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4864608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87552" y="521208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 · Plotly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70832" y="393192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6864" y="41879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s/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308" y="431139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6864" y="4864608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26864" y="521208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HR analytics web app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393192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F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66176" y="41879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icons/g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4311396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66176" y="4864608"/>
            <a:ext cx="2944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Source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66176" y="521208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· Kaggle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2688" y="14813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58" y="1584198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7904" y="144475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32688" y="199339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and transformation for tabular data.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70832" y="12801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4813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icons/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584198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57216" y="144475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0" y="199339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computations, arrays, and statistical functions.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010144" y="12801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11312" y="14813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icons/chart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182" y="158419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96528" y="144475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11312" y="199339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charts for EDA and reporting.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" y="28803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32688" y="30815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icons/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8" y="3184398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17904" y="304495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32688" y="359359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box plots, and correlation matrices.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370832" y="28803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0" y="30815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4" descr="icons/chart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3184398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57216" y="304495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72000" y="359359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graphs with hover and zoom.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010144" y="28803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211312" y="30815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0" name="Image 5" descr="icons/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4182" y="3184398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796528" y="304495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211312" y="359359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algorithms, validation, and evaluation metrics.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731520" y="44805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932688" y="46817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5" name="Image 6" descr="icons/bol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558" y="4784598"/>
            <a:ext cx="251460" cy="2514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517904" y="464515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932688" y="519379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gradient boosting for attrition prediction.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4370832" y="44805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4572000" y="46817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0" name="Image 7" descr="icons/sa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4870" y="4784598"/>
            <a:ext cx="251460" cy="2514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157216" y="464515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4572000" y="519379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reuse trained ML models.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010144" y="448056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8211312" y="468172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5" name="Image 8" descr="icons/dashboar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4182" y="4784598"/>
            <a:ext cx="251460" cy="25146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8796528" y="464515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47" name="Text 36"/>
          <p:cNvSpPr/>
          <p:nvPr/>
        </p:nvSpPr>
        <p:spPr>
          <a:xfrm>
            <a:off x="8211312" y="5193792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HR analytics dashboard.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 &amp;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1206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1901952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classifier with interpretable coefficients — fast to train, useful as a benchmark.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596896"/>
            <a:ext cx="51206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6883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03580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splits that are easy to interpret but can overfit without depth limits or pruning.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730752"/>
            <a:ext cx="51206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8221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4169664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100+ trees that improves robustness and cuts variance through bagging.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864608"/>
            <a:ext cx="5120640" cy="1024128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9560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⭐ Best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530352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8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gradient boosting with the highest accuracy, F1, and ROC-AUC.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1143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PERFORMANCE METRICS</a:t>
            </a:r>
            <a:endParaRPr lang="en-US" sz="11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035040" y="146304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035040" y="461772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04293A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461772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the highest scores across all metrics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88% accuracy, F1: 0.85, ROC-AUC: 0.92 — making it the definitive choice for production attrition prediction.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 &amp; HR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67335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017" y="1792681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5453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Prediction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27632" y="18745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 — Yes (at risk) / No (stable) per employee.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260604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286207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s/percent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17" y="2981401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27632" y="27340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27632" y="30632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percentage per employee (e.g., 78% likely to leave).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31520" y="3794760"/>
            <a:ext cx="51206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1EBE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2F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05079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icons/list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17" y="4170121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27632" y="392277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27632" y="4251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drivers: Overtime, Monthly Income, Job Satisfaction.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172200" y="1097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DEPARTMENT-WISE ATTRITION RATE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035040" y="1417320"/>
          <a:ext cx="54864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6172200" y="38404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has the highest attrition (20.6%), followed by HR (19%). R&amp;D is most stable (13.8%) — retention programs should prioritize Sales and HR.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035040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04293A"/>
          </a:solidFill>
          <a:ln/>
        </p:spPr>
      </p:sp>
      <p:sp>
        <p:nvSpPr>
          <p:cNvPr id="23" name="Text 17"/>
          <p:cNvSpPr/>
          <p:nvPr/>
        </p:nvSpPr>
        <p:spPr>
          <a:xfrm>
            <a:off x="6309360" y="4800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MODULES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309360" y="51206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&amp; Department-wise Attrition Rate  ·  Overtime vs. Attrition  ·  Job Satisfaction Distribution  ·  Monthly Income vs. Attrition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6116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813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71600" y="18105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predicts attrition reliably with ~88% accuracy and ROC-AUC: 0.92.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5717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4414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Intervention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71600" y="277063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high-risk employees before resignation, enabling earlier HR action.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icons/chart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5318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015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Planning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71600" y="373075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smarter retention strategy and reduces costly reactive hiring.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0936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09360" y="15087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771" y="1595171"/>
            <a:ext cx="211226" cy="2112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1463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858000" y="17373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Neural Networks for sequential employee behavior modeling.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309360" y="22677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771" y="2354123"/>
            <a:ext cx="211226" cy="21122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0" y="22219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858000" y="249631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for transparent, interpretable decisions.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309360" y="30266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icons/chartB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771" y="3113075"/>
            <a:ext cx="211226" cy="21122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58000" y="29809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858000" y="325526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HR pipelines for continuous attrition risk scoring.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6309360" y="378561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6" descr="icons/clou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5771" y="3872027"/>
            <a:ext cx="211226" cy="21122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58000" y="37398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HRMS Integration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6858000" y="401421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 / Azure / GCP; connect with SAP, Workday, BambooHR.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309360" y="45445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7" descr="icons/mobi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771" y="4630979"/>
            <a:ext cx="211226" cy="21122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58000" y="44988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Access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6858000" y="477316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FC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On-the-go HR analytics via React Native or Flutter.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731520" y="5806440"/>
            <a:ext cx="10725912" cy="0"/>
          </a:xfrm>
          <a:prstGeom prst="line">
            <a:avLst/>
          </a:prstGeom>
          <a:noFill/>
          <a:ln w="12700">
            <a:solidFill>
              <a:srgbClr val="13505F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&amp; Discussion</a:t>
            </a:r>
            <a:endParaRPr lang="en-US" sz="2000" dirty="0"/>
          </a:p>
        </p:txBody>
      </p:sp>
      <p:sp>
        <p:nvSpPr>
          <p:cNvPr id="39" name="Text 29"/>
          <p:cNvSpPr/>
          <p:nvPr/>
        </p:nvSpPr>
        <p:spPr>
          <a:xfrm>
            <a:off x="731520" y="638251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  |  AI &amp; Data Science  |  IBM HR Analytics (Kaggle)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Intelligence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transition xmlns:p14="http://schemas.microsoft.com/office/powerpoint/2010/main" p14:dur="900" spd="slow">
    <p159:morph xmlns:p159="http://schemas.microsoft.com/office/powerpoint/2015/10/main" option="byObject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2026-07-30T06:14:21Z</dcterms:created>
  <dcterms:modified xsi:type="dcterms:W3CDTF">2026-07-30T06:14:21Z</dcterms:modified>
</cp:coreProperties>
</file>