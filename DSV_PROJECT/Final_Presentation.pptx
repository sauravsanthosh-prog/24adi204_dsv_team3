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57dd386505a4f2b" /><Relationship Type="http://schemas.openxmlformats.org/officeDocument/2006/relationships/extended-properties" Target="/docProps/app.xml" Id="R1d74851114ac4454" /><Relationship Type="http://schemas.openxmlformats.org/officeDocument/2006/relationships/officeDocument" Target="/ppt/presentation.xml" Id="R59908ec8944242a1" /></Relationships>
</file>

<file path=ppt/presentation.xml><?xml version="1.0" encoding="utf-8"?>
<p:presentation xmlns:p="http://schemas.openxmlformats.org/presentationml/2006/main" embedTrueTypeFonts="1" saveSubsetFonts="1">
  <p:sldMasterIdLst>
    <p:sldMasterId xmlns:r="http://schemas.openxmlformats.org/officeDocument/2006/relationships" id="2147483648" r:id="R84f4c7dd9a84465f"/>
  </p:sldMasterIdLst>
  <p:notesMasterIdLst>
    <p:notesMasterId xmlns:r="http://schemas.openxmlformats.org/officeDocument/2006/relationships" r:id="Rc366101e48ad485e"/>
  </p:notesMasterIdLst>
  <p:sldIdLst>
    <p:sldId xmlns:r="http://schemas.openxmlformats.org/officeDocument/2006/relationships" id="256" r:id="Rdf945636685e4afb"/>
    <p:sldId xmlns:r="http://schemas.openxmlformats.org/officeDocument/2006/relationships" id="257" r:id="R59493cc6c9a5410b"/>
    <p:sldId xmlns:r="http://schemas.openxmlformats.org/officeDocument/2006/relationships" id="258" r:id="R3a23ac034a14462d"/>
    <p:sldId xmlns:r="http://schemas.openxmlformats.org/officeDocument/2006/relationships" id="259" r:id="Rccbf27375eeb44cc"/>
    <p:sldId xmlns:r="http://schemas.openxmlformats.org/officeDocument/2006/relationships" id="260" r:id="R813455a717fa4b02"/>
    <p:sldId xmlns:r="http://schemas.openxmlformats.org/officeDocument/2006/relationships" id="261" r:id="R19498805cdeb4439"/>
    <p:sldId xmlns:r="http://schemas.openxmlformats.org/officeDocument/2006/relationships" id="262" r:id="R8d0dcf17e83d438b"/>
    <p:sldId xmlns:r="http://schemas.openxmlformats.org/officeDocument/2006/relationships" id="263" r:id="R62200b1601e54df8"/>
    <p:sldId xmlns:r="http://schemas.openxmlformats.org/officeDocument/2006/relationships" id="264" r:id="R8cc9bb3479ac4249"/>
    <p:sldId xmlns:r="http://schemas.openxmlformats.org/officeDocument/2006/relationships" id="265" r:id="Rd1782433d88f4888"/>
    <p:sldId xmlns:r="http://schemas.openxmlformats.org/officeDocument/2006/relationships" id="266" r:id="Rd5d1695b7d074c04"/>
    <p:sldId xmlns:r="http://schemas.openxmlformats.org/officeDocument/2006/relationships" id="267" r:id="R0b824547578d4897"/>
    <p:sldId xmlns:r="http://schemas.openxmlformats.org/officeDocument/2006/relationships" id="268" r:id="R9d064c72cbef4b4e"/>
  </p:sldIdLst>
  <p:sldSz cx="18288000" cy="10287000"/>
  <p:notesSz cx="6858000" cy="9144000"/>
  <p:embeddedFontLst>
    <p:embeddedFont>
      <p:font typeface="Poppins"/>
      <p:regular xmlns:r="http://schemas.openxmlformats.org/officeDocument/2006/relationships" r:id="R2a0523ab989f406f"/>
    </p:embeddedFont>
    <p:embeddedFont>
      <p:font typeface="Poppins Bold"/>
      <p:regular xmlns:r="http://schemas.openxmlformats.org/officeDocument/2006/relationships" r:id="R6475f9d253704112"/>
      <p:bold xmlns:r="http://schemas.openxmlformats.org/officeDocument/2006/relationships" r:id="R38dbc5176455409d"/>
    </p:embeddedFont>
    <p:embeddedFont>
      <p:font typeface="Poppins Bold Italics"/>
      <p:regular xmlns:r="http://schemas.openxmlformats.org/officeDocument/2006/relationships" r:id="R2b01c24d574443c7"/>
    </p:embeddedFont>
    <p:embeddedFont>
      <p:font typeface="Poppins Italics"/>
      <p:regular xmlns:r="http://schemas.openxmlformats.org/officeDocument/2006/relationships" r:id="Rf80252be4f4f4c27"/>
    </p:embeddedFont>
    <p:embeddedFont>
      <p:font typeface="Times New Roman Bold"/>
      <p:bold xmlns:r="http://schemas.openxmlformats.org/officeDocument/2006/relationships" r:id="R373afb0697f74cdb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51d262620884da2" /><Relationship Type="http://schemas.openxmlformats.org/officeDocument/2006/relationships/slideMaster" Target="/ppt/slideMasters/slideMaster1.xml" Id="R84f4c7dd9a84465f" /><Relationship Type="http://schemas.openxmlformats.org/officeDocument/2006/relationships/notesMaster" Target="/ppt/notesMasters/notesMaster1.xml" Id="Rc366101e48ad485e" /><Relationship Type="http://schemas.openxmlformats.org/officeDocument/2006/relationships/presProps" Target="/ppt/presProps.xml" Id="R31b1433035e84f48" /><Relationship Type="http://schemas.openxmlformats.org/officeDocument/2006/relationships/viewProps" Target="/ppt/viewProps.xml" Id="Rbc4bd7d5ef7a4b0e" /><Relationship Type="http://schemas.openxmlformats.org/officeDocument/2006/relationships/tableStyles" Target="/ppt/tableStyles.xml" Id="R6c633333c2f44898" /><Relationship Type="http://schemas.openxmlformats.org/officeDocument/2006/relationships/font" Target="/ppt/fonts/font.dat" Id="R2a0523ab989f406f" /><Relationship Type="http://schemas.openxmlformats.org/officeDocument/2006/relationships/font" Target="/ppt/fonts/font2.dat" Id="R6475f9d253704112" /><Relationship Type="http://schemas.openxmlformats.org/officeDocument/2006/relationships/font" Target="/ppt/fonts/font3.dat" Id="R38dbc5176455409d" /><Relationship Type="http://schemas.openxmlformats.org/officeDocument/2006/relationships/font" Target="/ppt/fonts/font4.dat" Id="R2b01c24d574443c7" /><Relationship Type="http://schemas.openxmlformats.org/officeDocument/2006/relationships/font" Target="/ppt/fonts/font5.dat" Id="Rf80252be4f4f4c27" /><Relationship Type="http://schemas.openxmlformats.org/officeDocument/2006/relationships/font" Target="/ppt/fonts/font6.dat" Id="R373afb0697f74cdb" /><Relationship Type="http://schemas.openxmlformats.org/officeDocument/2006/relationships/slide" Target="/ppt/slides/slide1.xml" Id="Rdf945636685e4afb" /><Relationship Type="http://schemas.openxmlformats.org/officeDocument/2006/relationships/slide" Target="/ppt/slides/slide2.xml" Id="R59493cc6c9a5410b" /><Relationship Type="http://schemas.openxmlformats.org/officeDocument/2006/relationships/slide" Target="/ppt/slides/slide3.xml" Id="R3a23ac034a14462d" /><Relationship Type="http://schemas.openxmlformats.org/officeDocument/2006/relationships/slide" Target="/ppt/slides/slide4.xml" Id="Rccbf27375eeb44cc" /><Relationship Type="http://schemas.openxmlformats.org/officeDocument/2006/relationships/slide" Target="/ppt/slides/slide5.xml" Id="R813455a717fa4b02" /><Relationship Type="http://schemas.openxmlformats.org/officeDocument/2006/relationships/slide" Target="/ppt/slides/slide6.xml" Id="R19498805cdeb4439" /><Relationship Type="http://schemas.openxmlformats.org/officeDocument/2006/relationships/slide" Target="/ppt/slides/slide7.xml" Id="R8d0dcf17e83d438b" /><Relationship Type="http://schemas.openxmlformats.org/officeDocument/2006/relationships/slide" Target="/ppt/slides/slide8.xml" Id="R62200b1601e54df8" /><Relationship Type="http://schemas.openxmlformats.org/officeDocument/2006/relationships/slide" Target="/ppt/slides/slide9.xml" Id="R8cc9bb3479ac4249" /><Relationship Type="http://schemas.openxmlformats.org/officeDocument/2006/relationships/slide" Target="/ppt/slides/slide10.xml" Id="Rd1782433d88f4888" /><Relationship Type="http://schemas.openxmlformats.org/officeDocument/2006/relationships/slide" Target="/ppt/slides/slide11.xml" Id="Rd5d1695b7d074c04" /><Relationship Type="http://schemas.openxmlformats.org/officeDocument/2006/relationships/slide" Target="/ppt/slides/slide12.xml" Id="R0b824547578d4897" /><Relationship Type="http://schemas.openxmlformats.org/officeDocument/2006/relationships/slide" Target="/ppt/slides/slide13.xml" Id="R9d064c72cbef4b4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70d655c75224fb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b48d0a3fa26442c" /><Relationship Type="http://schemas.openxmlformats.org/officeDocument/2006/relationships/notesMaster" Target="/ppt/notesMasters/notesMaster1.xml" Id="Rac1ce440f2a449e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ff319207e15429d" /><Relationship Type="http://schemas.openxmlformats.org/officeDocument/2006/relationships/notesMaster" Target="/ppt/notesMasters/notesMaster1.xml" Id="Rf7dfb6bafc74441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17d9ec214e84e29" /><Relationship Type="http://schemas.openxmlformats.org/officeDocument/2006/relationships/notesMaster" Target="/ppt/notesMasters/notesMaster1.xml" Id="R39dea0928b7648b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2a33f99e2db49a4" /><Relationship Type="http://schemas.openxmlformats.org/officeDocument/2006/relationships/notesMaster" Target="/ppt/notesMasters/notesMaster1.xml" Id="R55e2bb4ddbad410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f3abe4922e547b4" /><Relationship Type="http://schemas.openxmlformats.org/officeDocument/2006/relationships/notesMaster" Target="/ppt/notesMasters/notesMaster1.xml" Id="Rfa5e9a8112ff416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bc44b2e5e294e75" /><Relationship Type="http://schemas.openxmlformats.org/officeDocument/2006/relationships/notesMaster" Target="/ppt/notesMasters/notesMaster1.xml" Id="Rc2dab743a410401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83e0e745791444a" /><Relationship Type="http://schemas.openxmlformats.org/officeDocument/2006/relationships/notesMaster" Target="/ppt/notesMasters/notesMaster1.xml" Id="Re258fc9e24894b9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1638c69d11543fa" /><Relationship Type="http://schemas.openxmlformats.org/officeDocument/2006/relationships/notesMaster" Target="/ppt/notesMasters/notesMaster1.xml" Id="R592416faff734cf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a524c805ef4490c" /><Relationship Type="http://schemas.openxmlformats.org/officeDocument/2006/relationships/notesMaster" Target="/ppt/notesMasters/notesMaster1.xml" Id="Rf9f4285c3712434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6c0a1444d6e42df" /><Relationship Type="http://schemas.openxmlformats.org/officeDocument/2006/relationships/notesMaster" Target="/ppt/notesMasters/notesMaster1.xml" Id="Rba08adcedf684cf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29736fd02164f16" /><Relationship Type="http://schemas.openxmlformats.org/officeDocument/2006/relationships/notesMaster" Target="/ppt/notesMasters/notesMaster1.xml" Id="R063b89a7141b4b6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cd4002964124a5e" /><Relationship Type="http://schemas.openxmlformats.org/officeDocument/2006/relationships/notesMaster" Target="/ppt/notesMasters/notesMaster1.xml" Id="R2459a40107ab473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df3a187840c4e8f" /><Relationship Type="http://schemas.openxmlformats.org/officeDocument/2006/relationships/notesMaster" Target="/ppt/notesMasters/notesMaster1.xml" Id="Re3d959528ac2409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Team No. 3. Completed Weeks 1–9 code and review materials. Actual expo and viva attendance remain team activities. PCA is unsupervised; no attrition classifier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aim is descriptive evidence, not causal inference or individual employee prediction. Dataset source: https://www.kaggle.com/datasets/nikhilbhosle/employee-attrition-uncleaned-dataset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Nine executed notebooks cover Weeks 1–9. Fourteen automated tests passed. The final report and dashboard are included.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 code and review materials are delivered. Physical presentation, peer review and viva must be completed by the team. The gate is a descriptive project heuristic.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Dataset: https://www.kaggle.com/datasets/nikhilbhosle/employee-attrition-uncleaned-dataset. Source sampling process, time period and real/synthetic status are unverified. Clean base has 74,498 unique IDs.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shared scripts build the audit, feature transformations and PCA. The dashboard uses saved analytical reports and a reproducible baseline.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4,325 missing-cell figure is before deduplication; the two imputed-field counts are after deduplication. No missing cells in the cleaned baseline. Outliers were flagged, not removed.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Figure from Reports/Figures/04_evidence_scorecard.png. Differences are percentage points in observed Left share, with 95% intervals. Teal comparisons pass our exploratory heuristic; orange need caution. Associations are not causes.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Yeo–Johnson changes income shape; scaling alone does not. Twenty-four components are the minimum reaching 90% under numeric z-score plus unscaled dummy weighting. All-column standardization needs 30 components. Correlation screening removes zero additional columns. Variance retention is not classifier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Member names and previously stated roles come from the earlier Week 2 team log, confirmed by the user for Team No. 3. Exact allocation of notebook commits should be verified with members.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17,824 early-start flags and 66,049 tenure-pair disagreements under the same-definition assumption are questions for source clarification, not confirmed errors. Left share 47.48%; do not call this severe class imbalance.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Demonstrate the dashboard: Overview, Data audit, Explore groups, Evidence checks, PCA map, Next actions. Show at least five plot types. No measured policy impact or prediction accuracy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Kaggle dataset: https://www.kaggle.com/datasets/nikhilbhosle/employee-attrition-uncleaned-dataset</a:t>
            </a:r>
          </a:p>
          <a:p xmlns:a="http://schemas.openxmlformats.org/drawingml/2006/main">
            <a:r>
              <a:t>Project: https://github.com/sauravsanthosh-prog/24ADI204_DSV_Team3/tree/main/DSV_PROJECT</a:t>
            </a:r>
          </a:p>
          <a:p xmlns:a="http://schemas.openxmlformats.org/drawingml/2006/main">
            <a:r>
              <a:t>Methods and novelty documents are in the project Docs folder.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4b7ebaed194db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08441a32264b9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7e9ba7fd744fc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9d11bcd42e440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f96f9d83de41c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25046540e74e6b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5acf6f96103451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bcce75a3ba475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4396970407431c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01c24312234b2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0f37f677d34fb2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5FEA639-E2DB-44D6-A992-8A9F9A3F757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26C7EC9D-FEE5-4487-A899-439D340A4AE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A255D00-00CC-4338-BA92-736A8E11245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9/16/2026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22BF5F1-87E1-4CBA-98BB-A20801D1F12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56C115C-6E34-4575-9DD8-FA93414149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0BC2FB8-5DBB-45CC-A5ED-D75988FFFA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A1310D0-B5AA-48AB-A8FA-1EE3D3DF4CA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18D3FA5-F622-4E68-806C-5C16173146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9/16/2026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04EDD9F-4D4D-4A04-9D18-14E77E43B3C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505FBC6-6892-4C29-8030-739099068F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9EB0E60-087A-49F7-A32D-0E2C1B1A1C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A56BA80-E295-4602-AF47-1A2E5484C9D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8C3BE7C-CC32-4003-B615-B7BD657F820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9/16/2026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DD8B215-429F-4704-BC04-AB4AED8F439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66705CB-817E-42FF-87FE-55531BF5D76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E023FB0-F3BD-4AAF-8F53-F478B79548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01B9926-A98E-4D46-8ABF-9964267B237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95DC8AC2-1F9B-4811-AD5D-89199CA8F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642907E-74E9-4A31-9B88-CD0D62F6AB6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9/16/2026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14DCFA8-62C6-4F07-807E-31F249AABD4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3B4F9B0-758B-4373-BEAD-26F114B489A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662CB6C-1533-4FE4-B796-CFD8B9016C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BB407C4-D156-4FF3-BAB7-3BDC0D79CF0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3241D10-DCD3-4230-A552-93A5F3DA4FA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F3971925-7331-40AD-8A31-206DD14B30A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95C968B9-12CF-4507-A592-4A55F2306D6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CEFD79DD-4425-4CF6-8A3C-755358838B0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9/16/2026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4C2171F2-EB86-4530-A52D-7F94084EDE4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5C67B4A-3A52-4EED-BBB2-4ABDE7177B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30D9B85-37C2-4CF2-A7EB-B01D5F3E2F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9AB26FE0-0E66-4DBE-8459-8ABA79F583B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9/16/2026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53D49956-5919-46CF-ACB0-7BFCA756C19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F63F121-07BD-48F2-A5B5-A00239AC1E7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185D465-7B9B-45C3-B6D5-30883976CA9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9/16/2026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8E270E0-728D-4FD9-A4EA-0FCA135D3C0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A9A01E7B-DEF1-4BE3-AC14-97C9B4BAB3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9D54285-6C2F-4829-84AC-A40949FE83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9D984AF-5A7D-400A-AD86-0D868D31AB4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643F314-D9C4-421C-99A4-01FA42F9F80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1E0A1D6-4DFF-4A38-B0D7-4956DB61EF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9/16/2026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20353DB-E981-4031-8018-BEC39167AB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729964C-CF2F-478B-82E8-53FE29B5D3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0F177DE-81BE-438A-B7EC-02B4420D6D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528D91F-2760-4CBD-BF53-BB596BCAD49D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4F5AE71-BB7C-49B1-B7BD-5DAE463876F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E2F4CF1-70B0-495D-A575-6B666E6665E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9/16/2026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725B80D-B577-4789-9C78-6D55054665E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CBB8C83-C7BE-4A32-A708-E6556420C8A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7BA706F-EF1E-4183-A5D4-C7D8725500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AF01C83-C5C8-4572-92EB-08CAD0C1317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CAF25BF-A475-4C66-93A0-03BAD9601E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9/16/2026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46B0600-C72D-46E7-ADBA-38D1A8788C9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3B6E342-593F-4DDA-B0A5-49E6FE6AED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628D88FE-374C-4288-A664-BF4E707264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FAFE04D-EABD-4D3F-A4A0-8B31327AA21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8AACAB9-BE61-44CF-B0A3-967A20DDBBD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9/16/2026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223139-6002-4B66-A65D-42CE6A547DA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8137850-4761-4D0A-B9F1-5162BF60E09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1306eec852247ab" /><Relationship Type="http://schemas.openxmlformats.org/officeDocument/2006/relationships/slideLayout" Target="/ppt/slideLayouts/slideLayout1.xml" Id="Rd5f6b2db4db9489a" /><Relationship Type="http://schemas.openxmlformats.org/officeDocument/2006/relationships/slideLayout" Target="/ppt/slideLayouts/slideLayout2.xml" Id="R5a4f4aadc1824659" /><Relationship Type="http://schemas.openxmlformats.org/officeDocument/2006/relationships/slideLayout" Target="/ppt/slideLayouts/slideLayout3.xml" Id="Re6e23469e5994dd2" /><Relationship Type="http://schemas.openxmlformats.org/officeDocument/2006/relationships/slideLayout" Target="/ppt/slideLayouts/slideLayout4.xml" Id="R9f71e9dfae0d43bd" /><Relationship Type="http://schemas.openxmlformats.org/officeDocument/2006/relationships/slideLayout" Target="/ppt/slideLayouts/slideLayout5.xml" Id="R623fc3e9fa904b21" /><Relationship Type="http://schemas.openxmlformats.org/officeDocument/2006/relationships/slideLayout" Target="/ppt/slideLayouts/slideLayout6.xml" Id="R83deef58bbfe4821" /><Relationship Type="http://schemas.openxmlformats.org/officeDocument/2006/relationships/slideLayout" Target="/ppt/slideLayouts/slideLayout7.xml" Id="R2e18c815384f4b55" /><Relationship Type="http://schemas.openxmlformats.org/officeDocument/2006/relationships/slideLayout" Target="/ppt/slideLayouts/slideLayout8.xml" Id="Rcd2b8e1a6a6e4454" /><Relationship Type="http://schemas.openxmlformats.org/officeDocument/2006/relationships/slideLayout" Target="/ppt/slideLayouts/slideLayout9.xml" Id="Re169fcb832894685" /><Relationship Type="http://schemas.openxmlformats.org/officeDocument/2006/relationships/slideLayout" Target="/ppt/slideLayouts/slideLayout10.xml" Id="R5b3fffef2d6848d7" /><Relationship Type="http://schemas.openxmlformats.org/officeDocument/2006/relationships/slideLayout" Target="/ppt/slideLayouts/slideLayout11.xml" Id="Rb4e6974b4579405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A554307-1D22-4934-9F46-7F7ABEA9E6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5179155-D45A-483A-B677-45CAF6D412B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97522D5-FBB7-45AA-AAE2-A65F0205183D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1D8BD707-D9CF-40AE-B4C6-C98DA3205C09}" type="datetimeFigureOut">
              <a:t>9/16/2026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2A0D7F8-EB8D-46F5-91F6-459D8069467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063661A-76B7-4EEF-B4CD-AAB6E587067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5f6b2db4db9489a"/>
    <p:sldLayoutId xmlns:r="http://schemas.openxmlformats.org/officeDocument/2006/relationships" id="2147483650" r:id="R5a4f4aadc1824659"/>
    <p:sldLayoutId xmlns:r="http://schemas.openxmlformats.org/officeDocument/2006/relationships" id="2147483651" r:id="Re6e23469e5994dd2"/>
    <p:sldLayoutId xmlns:r="http://schemas.openxmlformats.org/officeDocument/2006/relationships" id="2147483652" r:id="R9f71e9dfae0d43bd"/>
    <p:sldLayoutId xmlns:r="http://schemas.openxmlformats.org/officeDocument/2006/relationships" id="2147483653" r:id="R623fc3e9fa904b21"/>
    <p:sldLayoutId xmlns:r="http://schemas.openxmlformats.org/officeDocument/2006/relationships" id="2147483654" r:id="R83deef58bbfe4821"/>
    <p:sldLayoutId xmlns:r="http://schemas.openxmlformats.org/officeDocument/2006/relationships" id="2147483655" r:id="R2e18c815384f4b55"/>
    <p:sldLayoutId xmlns:r="http://schemas.openxmlformats.org/officeDocument/2006/relationships" id="2147483656" r:id="Rcd2b8e1a6a6e4454"/>
    <p:sldLayoutId xmlns:r="http://schemas.openxmlformats.org/officeDocument/2006/relationships" id="2147483657" r:id="Re169fcb832894685"/>
    <p:sldLayoutId xmlns:r="http://schemas.openxmlformats.org/officeDocument/2006/relationships" id="2147483658" r:id="R5b3fffef2d6848d7"/>
    <p:sldLayoutId xmlns:r="http://schemas.openxmlformats.org/officeDocument/2006/relationships" id="2147483659" r:id="Rb4e6974b45794057"/>
  </p:sldLayoutIdLst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730b96322a24835" /><Relationship Type="http://schemas.openxmlformats.org/officeDocument/2006/relationships/image" Target="/ppt/media/image.png" Id="R584a94db65924e45" /><Relationship Type="http://schemas.openxmlformats.org/officeDocument/2006/relationships/image" Target="/ppt/media/image2.png" Id="R154fe742f7d248fd" /><Relationship Type="http://schemas.openxmlformats.org/officeDocument/2006/relationships/notesSlide" Target="/ppt/notesSlides/notesSlide1.xml" Id="R17d45020f13f459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4b5c27cf5644b15" /><Relationship Type="http://schemas.openxmlformats.org/officeDocument/2006/relationships/image" Target="/ppt/media/image3.png" Id="R034c82f6959f4760" /><Relationship Type="http://schemas.openxmlformats.org/officeDocument/2006/relationships/image" Target="/ppt/media/image.svg" Id="R6fd610d47ee0403d" /><Relationship Type="http://schemas.openxmlformats.org/officeDocument/2006/relationships/notesSlide" Target="/ppt/notesSlides/notesSlide2.xml" Id="R06e58b35a8ac4e2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5b03018a65643d5" /><Relationship Type="http://schemas.openxmlformats.org/officeDocument/2006/relationships/image" Target="/ppt/media/image4.png" Id="Rc1a9253d6a6147e0" /><Relationship Type="http://schemas.openxmlformats.org/officeDocument/2006/relationships/image" Target="/ppt/media/image2.svg" Id="Rdd212d8166db4ed3" /><Relationship Type="http://schemas.openxmlformats.org/officeDocument/2006/relationships/notesSlide" Target="/ppt/notesSlides/notesSlide3.xml" Id="R5ae79ae8eeef400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7bc86c402bc40b5" /><Relationship Type="http://schemas.openxmlformats.org/officeDocument/2006/relationships/notesSlide" Target="/ppt/notesSlides/notesSlide4.xml" Id="R56ded30784ee488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9966475191140b9" /><Relationship Type="http://schemas.openxmlformats.org/officeDocument/2006/relationships/image" Target="/ppt/media/image5.png" Id="R5e9a89c7a1f64b8a" /><Relationship Type="http://schemas.openxmlformats.org/officeDocument/2006/relationships/image" Target="/ppt/media/image3.svg" Id="R6f324912753446c7" /><Relationship Type="http://schemas.openxmlformats.org/officeDocument/2006/relationships/notesSlide" Target="/ppt/notesSlides/notesSlide5.xml" Id="R9caa3e67575e49c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6bbbc84c6e14565" /><Relationship Type="http://schemas.openxmlformats.org/officeDocument/2006/relationships/image" Target="/ppt/media/image6.png" Id="Rfecd435360d44f22" /><Relationship Type="http://schemas.openxmlformats.org/officeDocument/2006/relationships/image" Target="/ppt/media/image4.svg" Id="R5ccde8a4ce07431e" /><Relationship Type="http://schemas.openxmlformats.org/officeDocument/2006/relationships/notesSlide" Target="/ppt/notesSlides/notesSlide6.xml" Id="Rf3e6ae3e993b492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899c5712c454500" /><Relationship Type="http://schemas.openxmlformats.org/officeDocument/2006/relationships/image" Target="/ppt/media/image7.png" Id="R03476b3516f54f71" /><Relationship Type="http://schemas.openxmlformats.org/officeDocument/2006/relationships/image" Target="/ppt/media/image5.svg" Id="R723a3c14eb374ec4" /><Relationship Type="http://schemas.openxmlformats.org/officeDocument/2006/relationships/notesSlide" Target="/ppt/notesSlides/notesSlide7.xml" Id="Rb6437c66cf7f414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fdadb21aa854d67" /><Relationship Type="http://schemas.openxmlformats.org/officeDocument/2006/relationships/image" Target="/ppt/media/image7.png" Id="Rf55104e0a1564eff" /><Relationship Type="http://schemas.openxmlformats.org/officeDocument/2006/relationships/image" Target="/ppt/media/image5.svg" Id="R1b2ac89d022148ec" /><Relationship Type="http://schemas.openxmlformats.org/officeDocument/2006/relationships/image" Target="/ppt/media/image8.png" Id="R6f1163db090246f0" /><Relationship Type="http://schemas.openxmlformats.org/officeDocument/2006/relationships/notesSlide" Target="/ppt/notesSlides/notesSlide8.xml" Id="R6f28e226127746c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326a1ba63ea461c" /><Relationship Type="http://schemas.openxmlformats.org/officeDocument/2006/relationships/image" Target="/ppt/media/image9.png" Id="R9fae4c1731164d0e" /><Relationship Type="http://schemas.openxmlformats.org/officeDocument/2006/relationships/image" Target="/ppt/media/image6.svg" Id="R411a0a609fd84357" /><Relationship Type="http://schemas.openxmlformats.org/officeDocument/2006/relationships/image" Target="/ppt/media/image10.png" Id="R17d1659c3b3e4f5c" /><Relationship Type="http://schemas.openxmlformats.org/officeDocument/2006/relationships/notesSlide" Target="/ppt/notesSlides/notesSlide9.xml" Id="R897e44fcdd9e456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ddf6c6c10fa4cd1" /><Relationship Type="http://schemas.openxmlformats.org/officeDocument/2006/relationships/image" Target="/ppt/media/image11.png" Id="R1cc612407fd440b3" /><Relationship Type="http://schemas.openxmlformats.org/officeDocument/2006/relationships/image" Target="/ppt/media/image7.svg" Id="Rfde8a197865a4461" /><Relationship Type="http://schemas.openxmlformats.org/officeDocument/2006/relationships/notesSlide" Target="/ppt/notesSlides/notesSlide10.xml" Id="R4ed5d1e729874df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e80058931154675" /><Relationship Type="http://schemas.openxmlformats.org/officeDocument/2006/relationships/image" Target="/ppt/media/image12.png" Id="R89b4f9d4df5448a2" /><Relationship Type="http://schemas.openxmlformats.org/officeDocument/2006/relationships/image" Target="/ppt/media/image8.svg" Id="R29195a56dcda40dc" /><Relationship Type="http://schemas.openxmlformats.org/officeDocument/2006/relationships/notesSlide" Target="/ppt/notesSlides/notesSlide11.xml" Id="R4a067017e30b44c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143fc30af1c4f01" /><Relationship Type="http://schemas.openxmlformats.org/officeDocument/2006/relationships/image" Target="/ppt/media/image13.png" Id="Rf825c0ef26134221" /><Relationship Type="http://schemas.openxmlformats.org/officeDocument/2006/relationships/image" Target="/ppt/media/image9.svg" Id="R46acb274a6f3425e" /><Relationship Type="http://schemas.openxmlformats.org/officeDocument/2006/relationships/notesSlide" Target="/ppt/notesSlides/notesSlide12.xml" Id="Rd250678c6b2b4ea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a61e37373254974" /><Relationship Type="http://schemas.openxmlformats.org/officeDocument/2006/relationships/notesSlide" Target="/ppt/notesSlides/notesSlide13.xml" Id="R23c7c550c7da407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1E70E403-1009-4A24-96DD-E6C99A7F8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0"/>
            <a:ext cx="1299889" cy="1278575"/>
          </a:xfrm>
          <a:custGeom xmlns:a="http://schemas.openxmlformats.org/drawingml/2006/main">
            <a:rect l="l" t="t" r="r" b="b"/>
            <a:pathLst>
              <a:path w="2488943" h="2529537">
                <a:moveTo>
                  <a:pt x="0" y="0"/>
                </a:moveTo>
                <a:lnTo>
                  <a:pt x="2488944" y="0"/>
                </a:lnTo>
                <a:lnTo>
                  <a:pt x="2488944" y="2529538"/>
                </a:lnTo>
                <a:lnTo>
                  <a:pt x="0" y="2529538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84a94db65924e45"/>
            <a:stretch>
              <a:fillRect l="-15070" t="-4622" r="-22184" b="-2965"/>
            </a:stretch>
          </a:blip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301F37C6-A585-48F3-A0A8-370D6AF87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7790" y="190500"/>
            <a:ext cx="2519089" cy="945897"/>
          </a:xfrm>
          <a:custGeom xmlns:a="http://schemas.openxmlformats.org/drawingml/2006/main">
            <a:rect l="l" t="t" r="r" b="b"/>
            <a:pathLst>
              <a:path w="4049893" h="1883200">
                <a:moveTo>
                  <a:pt x="0" y="0"/>
                </a:moveTo>
                <a:lnTo>
                  <a:pt x="4049893" y="0"/>
                </a:lnTo>
                <a:lnTo>
                  <a:pt x="4049893" y="1883200"/>
                </a:lnTo>
                <a:lnTo>
                  <a:pt x="0" y="18832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154fe742f7d248fd"/>
            <a:stretch>
              <a:fillRect l="0" t="0" r="0" b="0"/>
            </a:stretch>
          </a:blip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019FE0A6-A46B-4C70-A82A-FA1EBC8A9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1061" y="534627"/>
            <a:ext cx="11180668" cy="250703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6996"/>
              </a:lnSpc>
              <a:buNone/>
            </a:pPr>
            <a:r>
              <a:rPr sz="4997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</a:rPr>
              <a:t>Artificial Intelligence and Data Science</a:t>
            </a:r>
          </a:p>
          <a:p xmlns:a="http://schemas.openxmlformats.org/drawingml/2006/main">
            <a:pPr algn="ctr">
              <a:lnSpc>
                <a:spcPts val="6436"/>
              </a:lnSpc>
              <a:spcBef>
                <a:spcPct val="0"/>
              </a:spcBef>
              <a:buNone/>
            </a:pPr>
            <a:r>
              <a:rPr sz="4597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</a:rPr>
              <a:t>Data Science and Visualization</a:t>
            </a:r>
          </a:p>
          <a:p xmlns:a="http://schemas.openxmlformats.org/drawingml/2006/main">
            <a:pPr algn="ctr">
              <a:lnSpc>
                <a:spcPts val="6436"/>
              </a:lnSpc>
              <a:spcBef>
                <a:spcPct val="0"/>
              </a:spcBef>
              <a:buNone/>
            </a:pPr>
            <a:r>
              <a:rPr sz="4597" b="1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</a:rPr>
              <a:t>24ADI204</a:t>
            </a:r>
          </a:p>
        </p:txBody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8C3B7752-EDA3-4EE1-9331-BD2A23089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9804" y="3412505"/>
            <a:ext cx="10410901" cy="12620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4985"/>
              </a:lnSpc>
              <a:buNone/>
            </a:pPr>
            <a:r>
              <a:rPr sz="3561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DATA-VIZ HACK-A-BIT (2026-2027) </a:t>
            </a:r>
          </a:p>
          <a:p xmlns:a="http://schemas.openxmlformats.org/drawingml/2006/main">
            <a:pPr algn="ctr">
              <a:lnSpc>
                <a:spcPts val="4985"/>
              </a:lnSpc>
              <a:spcBef>
                <a:spcPct val="0"/>
              </a:spcBef>
              <a:buNone/>
            </a:pPr>
            <a:endParaRPr sz="3561" b="1" i="1">
              <a:solidFill>
                <a:srgbClr val="000000"/>
              </a:solidFill>
              <a:latin typeface="Poppins Bold Italics"/>
              <a:ea typeface="Poppins Bold Italics"/>
              <a:cs typeface="Poppins Bold Italics"/>
            </a:endParaRPr>
          </a:p>
        </p:txBody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45586C9A-D461-43BB-86CA-D00623A86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8777" y="5507337"/>
            <a:ext cx="4887823" cy="64350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5067"/>
              </a:lnSpc>
              <a:spcBef>
                <a:spcPct val="0"/>
              </a:spcBef>
              <a:buNone/>
            </a:pPr>
            <a:r>
              <a:rPr sz="3619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Team Number: 3</a:t>
            </a:r>
          </a:p>
        </p:txBody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174C103D-6E70-4B62-8BC6-BAC21C4B9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455918"/>
            <a:ext cx="6324600" cy="50330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3963"/>
              </a:lnSpc>
              <a:spcBef>
                <a:spcPct val="0"/>
              </a:spcBef>
              <a:buNone/>
            </a:pPr>
            <a:r>
              <a:rPr sz="32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FINAL REVIEW (Sept 2026)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E8D6C9-A8A4-47A8-BC58-FBB9760FA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6762750"/>
            <a:ext cx="140970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975" b="1">
                <a:solidFill>
                  <a:srgbClr val="112D63"/>
                </a:solidFill>
                <a:latin typeface="Calibri"/>
                <a:ea typeface="Calibri"/>
                <a:cs typeface="Calibri"/>
              </a:defRPr>
            </a:pPr>
            <a:r>
              <a:rPr sz="3975" b="1">
                <a:solidFill>
                  <a:srgbClr val="112D63"/>
                </a:solidFill>
                <a:latin typeface="Calibri"/>
                <a:ea typeface="Calibri"/>
                <a:cs typeface="Calibri"/>
              </a:rPr>
              <a:t>EMPLOYEE ATTRITION EVIDENCE LAB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20A9A3-8432-48AF-9761-2D4E4A8EC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760095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0">
                <a:solidFill>
                  <a:srgbClr val="4A5869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4A5869"/>
                </a:solidFill>
                <a:latin typeface="Calibri"/>
                <a:ea typeface="Calibri"/>
                <a:cs typeface="Calibri"/>
              </a:rPr>
              <a:t>Weeks 1–9 · analysis, PCA and narrative dashboard</a:t>
            </a:r>
          </a:p>
        </p:txBody>
      </p:sp>
    </p:spTree>
    <p:extLst>
      <p:ext uri="{BB962C8B-B14F-4D97-AF65-F5344CB8AC3E}">
        <p14:creationId xmlns:p14="http://schemas.microsoft.com/office/powerpoint/2010/main" val="1161283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ACEBC7DD-DEA4-4076-B684-79208567B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576841"/>
            <a:ext cx="18288000" cy="2058569"/>
          </a:xfrm>
          <a:custGeom xmlns:a="http://schemas.openxmlformats.org/drawingml/2006/main">
            <a:rect l="l" t="t" r="r" b="b"/>
            <a:pathLst>
              <a:path w="3738189" h="420785">
                <a:moveTo>
                  <a:pt x="3534989" y="0"/>
                </a:moveTo>
                <a:lnTo>
                  <a:pt x="0" y="0"/>
                </a:lnTo>
                <a:lnTo>
                  <a:pt x="0" y="420785"/>
                </a:lnTo>
                <a:lnTo>
                  <a:pt x="3534989" y="420785"/>
                </a:lnTo>
                <a:lnTo>
                  <a:pt x="3738189" y="210393"/>
                </a:lnTo>
                <a:lnTo>
                  <a:pt x="3534989" y="0"/>
                </a:lnTo>
                <a:close/>
              </a:path>
            </a:pathLst>
          </a:custGeom>
          <a:solidFill xmlns:a="http://schemas.openxmlformats.org/drawingml/2006/main">
            <a:srgbClr val="112D63"/>
          </a:solidFill>
          <a:ln xmlns:a="http://schemas.openxmlformats.org/drawingml/2006/main" w="19050">
            <a:solidFill>
              <a:srgbClr val="112D6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97413F95-CE55-4E79-8E18-D6B5FB41D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250653"/>
            <a:ext cx="17728820" cy="23847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800"/>
              </a:lnSpc>
              <a:buNone/>
            </a:pPr>
            <a:endParaRPr/>
          </a:p>
        </p:txBody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F383ABD9-8DC7-4B8A-863A-4DA52DEB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2448" y="923093"/>
            <a:ext cx="8840169" cy="11850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9229"/>
              </a:lnSpc>
              <a:spcBef>
                <a:spcPct val="0"/>
              </a:spcBef>
              <a:buNone/>
            </a:pPr>
            <a:r>
              <a:rPr sz="6592" b="1">
                <a:solidFill>
                  <a:srgbClr val="FFFFFF"/>
                </a:solidFill>
                <a:latin typeface="Poppins Bold"/>
                <a:ea typeface="Poppins Bold"/>
                <a:cs typeface="Poppins Bold"/>
              </a:rPr>
              <a:t>Problem Statement </a:t>
            </a:r>
          </a:p>
        </p:txBody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54792D80-933C-47F8-B73F-5AE7F48CE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625" y="3363003"/>
            <a:ext cx="1906078" cy="1732798"/>
          </a:xfrm>
          <a:custGeom xmlns:a="http://schemas.openxmlformats.org/drawingml/2006/main">
            <a:rect l="l" t="t" r="r" b="b"/>
            <a:pathLst>
              <a:path w="1906078" h="1732798">
                <a:moveTo>
                  <a:pt x="0" y="0"/>
                </a:moveTo>
                <a:lnTo>
                  <a:pt x="1906078" y="0"/>
                </a:lnTo>
                <a:lnTo>
                  <a:pt x="1906078" y="1732798"/>
                </a:lnTo>
                <a:lnTo>
                  <a:pt x="0" y="1732798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034c82f6959f4760">
              <a:extLst>
                <a:ext uri="{96DAC541-7B7A-43D3-8B79-37D633B846F1}">
                  <asvg:svgBlip xmlns:asvg="http://schemas.microsoft.com/office/drawing/2016/SVG/main" r:embed="R6fd610d47ee0403d"/>
                </a:ext>
              </a:extLst>
            </a:blip>
            <a:stretch>
              <a:fillRect l="0" t="0" r="0" b="0"/>
            </a:stretch>
          </a:blip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026CE0-7945-4756-A183-1EBA33188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3528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D87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6E1AAD-6A1A-4585-B6E7-D6626AE51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238500"/>
            <a:ext cx="135064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775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Employee attrition analysis often starts with patterns before checking whether the data are reliable.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C993F1-0AD9-4A69-983E-B03C721CB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9720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D87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DE71AF-7F4E-436C-8BE1-31CDF5C9E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857750"/>
            <a:ext cx="135064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775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This file contains missing values, duplicate rows and fields with uncertain definitions.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E665F8-70EC-4FBE-8C70-2FADDB490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5913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D87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57171F-63B9-4F5B-8F36-883944155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6477000"/>
            <a:ext cx="135064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775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Our question: which observed differences remain credible after transparent cleaning checks?</a:t>
            </a:r>
          </a:p>
        </p:txBody>
      </p:sp>
    </p:spTree>
    <p:extLst>
      <p:ext uri="{BB962C8B-B14F-4D97-AF65-F5344CB8AC3E}">
        <p14:creationId xmlns:p14="http://schemas.microsoft.com/office/powerpoint/2010/main" val="208021429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27BA77C9-CC04-4D5C-A35D-30BC1A1DE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576841"/>
            <a:ext cx="18288000" cy="2058569"/>
          </a:xfrm>
          <a:custGeom xmlns:a="http://schemas.openxmlformats.org/drawingml/2006/main">
            <a:rect l="l" t="t" r="r" b="b"/>
            <a:pathLst>
              <a:path w="3738189" h="420785">
                <a:moveTo>
                  <a:pt x="3534989" y="0"/>
                </a:moveTo>
                <a:lnTo>
                  <a:pt x="0" y="0"/>
                </a:lnTo>
                <a:lnTo>
                  <a:pt x="0" y="420785"/>
                </a:lnTo>
                <a:lnTo>
                  <a:pt x="3534989" y="420785"/>
                </a:lnTo>
                <a:lnTo>
                  <a:pt x="3738189" y="210393"/>
                </a:lnTo>
                <a:lnTo>
                  <a:pt x="3534989" y="0"/>
                </a:lnTo>
                <a:close/>
              </a:path>
            </a:pathLst>
          </a:custGeom>
          <a:solidFill xmlns:a="http://schemas.openxmlformats.org/drawingml/2006/main">
            <a:srgbClr val="112D63"/>
          </a:solidFill>
          <a:ln xmlns:a="http://schemas.openxmlformats.org/drawingml/2006/main" w="19050">
            <a:solidFill>
              <a:srgbClr val="112D6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4A459E2F-E17C-4FF1-AE5E-410DF2D9B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250653"/>
            <a:ext cx="17728820" cy="23847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800"/>
              </a:lnSpc>
              <a:buNone/>
            </a:pPr>
            <a:endParaRPr/>
          </a:p>
        </p:txBody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8F1CEB48-03D0-44B3-A660-D47B30C92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2448" y="923093"/>
            <a:ext cx="8840169" cy="11850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9229"/>
              </a:lnSpc>
              <a:spcBef>
                <a:spcPct val="0"/>
              </a:spcBef>
              <a:buNone/>
            </a:pPr>
            <a:r>
              <a:rPr sz="6592" b="1">
                <a:solidFill>
                  <a:srgbClr val="FFFFFF"/>
                </a:solidFill>
                <a:latin typeface="Poppins Bold"/>
                <a:ea typeface="Poppins Bold"/>
                <a:cs typeface="Poppins Bold"/>
              </a:rPr>
              <a:t>Project Objectives</a:t>
            </a:r>
          </a:p>
        </p:txBody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7FA249DA-4C60-4585-84C6-E1D15650E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0631" y="3907276"/>
            <a:ext cx="14707123" cy="5055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marL="326390" lvl="1" algn="ctr">
              <a:lnSpc>
                <a:spcPts val="4235"/>
              </a:lnSpc>
              <a:spcBef>
                <a:spcPct val="0"/>
              </a:spcBef>
              <a:buNone/>
            </a:pPr>
            <a:endParaRPr sz="3000">
              <a:solidFill>
                <a:srgbClr val="545454"/>
              </a:solidFill>
            </a:endParaRPr>
          </a:p>
        </p:txBody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06F0DDC7-F8C5-472C-8278-D88348DEC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753" y="3315304"/>
            <a:ext cx="1828196" cy="1828196"/>
          </a:xfrm>
          <a:custGeom xmlns:a="http://schemas.openxmlformats.org/drawingml/2006/main">
            <a:rect l="l" t="t" r="r" b="b"/>
            <a:pathLst>
              <a:path w="1828196" h="1828196">
                <a:moveTo>
                  <a:pt x="0" y="0"/>
                </a:moveTo>
                <a:lnTo>
                  <a:pt x="1828196" y="0"/>
                </a:lnTo>
                <a:lnTo>
                  <a:pt x="1828196" y="1828196"/>
                </a:lnTo>
                <a:lnTo>
                  <a:pt x="0" y="1828196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c1a9253d6a6147e0">
              <a:extLst>
                <a:ext uri="{96DAC541-7B7A-43D3-8B79-37D633B846F1}">
                  <asvg:svgBlip xmlns:asvg="http://schemas.microsoft.com/office/drawing/2016/SVG/main" r:embed="Rdd212d8166db4ed3"/>
                </a:ext>
              </a:extLst>
            </a:blip>
            <a:stretch>
              <a:fillRect l="0" t="0" r="0" b="0"/>
            </a:stretch>
          </a:blip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DB572D-097A-4A84-9D4C-D119F4D89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623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D87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B8B296-B3F9-4E6A-B961-873E9134A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048000"/>
            <a:ext cx="134112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550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Audit the 74,610-row dataset and document its origin, types and quality issues.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A5ED4C-79D9-4CCE-A921-1ADF89808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60057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D87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3E9A3F-A4BD-4196-93C3-CCAE5133D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486275"/>
            <a:ext cx="134112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550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Create a reproducible cleaned baseline without silently deleting unusual records.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60B900-5D02-4DCE-B61D-215D7A8B5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0388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D87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09F56F-E093-4A47-8DD4-A17739F1B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924550"/>
            <a:ext cx="134112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550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Explore single-variable and group distributions with clear charts.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267695-D834-4399-80F0-956735B29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747712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D87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9EEA55-6B52-46B2-9D52-59005A509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7362825"/>
            <a:ext cx="134112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550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Check sample size, uncertainty and sensitivity before calling a pattern robust.</a:t>
            </a:r>
          </a:p>
        </p:txBody>
      </p:sp>
    </p:spTree>
    <p:extLst>
      <p:ext uri="{BB962C8B-B14F-4D97-AF65-F5344CB8AC3E}">
        <p14:creationId xmlns:p14="http://schemas.microsoft.com/office/powerpoint/2010/main" val="89647937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754B1E3C-AE03-45F4-8E59-4D9C52B4B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576841"/>
            <a:ext cx="18288000" cy="2058569"/>
          </a:xfrm>
          <a:custGeom xmlns:a="http://schemas.openxmlformats.org/drawingml/2006/main">
            <a:rect l="l" t="t" r="r" b="b"/>
            <a:pathLst>
              <a:path w="3738189" h="420785">
                <a:moveTo>
                  <a:pt x="3534989" y="0"/>
                </a:moveTo>
                <a:lnTo>
                  <a:pt x="0" y="0"/>
                </a:lnTo>
                <a:lnTo>
                  <a:pt x="0" y="420785"/>
                </a:lnTo>
                <a:lnTo>
                  <a:pt x="3534989" y="420785"/>
                </a:lnTo>
                <a:lnTo>
                  <a:pt x="3738189" y="210393"/>
                </a:lnTo>
                <a:lnTo>
                  <a:pt x="3534989" y="0"/>
                </a:lnTo>
                <a:close/>
              </a:path>
            </a:pathLst>
          </a:custGeom>
          <a:solidFill xmlns:a="http://schemas.openxmlformats.org/drawingml/2006/main">
            <a:srgbClr val="112D63"/>
          </a:solidFill>
          <a:ln xmlns:a="http://schemas.openxmlformats.org/drawingml/2006/main" w="19050">
            <a:solidFill>
              <a:srgbClr val="112D6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7822D4FF-9B4F-4144-9DB0-CAF35510B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250653"/>
            <a:ext cx="17728820" cy="23847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800"/>
              </a:lnSpc>
              <a:buNone/>
            </a:pPr>
            <a:endParaRPr/>
          </a:p>
        </p:txBody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BEA96763-498E-4D22-B351-4FD7F4F9B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2448" y="923093"/>
            <a:ext cx="8840169" cy="11850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9229"/>
              </a:lnSpc>
              <a:spcBef>
                <a:spcPct val="0"/>
              </a:spcBef>
              <a:buNone/>
            </a:pPr>
            <a:r>
              <a:rPr sz="6592" b="1">
                <a:solidFill>
                  <a:srgbClr val="FFFFFF"/>
                </a:solidFill>
                <a:latin typeface="Poppins Bold"/>
                <a:ea typeface="Poppins Bold"/>
                <a:cs typeface="Poppins Bold"/>
              </a:rPr>
              <a:t>Scope of the Project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9830326-9244-16C5-6A34-4705E606B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4183" y="4095267"/>
            <a:ext cx="2743200" cy="5355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rot="0" spcFirstLastPara="0" vert="horz" wrap="square" lIns="91440" tIns="45720" rIns="91440" bIns="45720" anchor="t">
            <a:spAutoFit/>
          </a:bodyPr>
          <a:lstStyle xmlns:a="http://schemas.openxmlformats.org/drawingml/2006/main"/>
          <a:p xmlns:a="http://schemas.openxmlformats.org/drawingml/2006/main">
            <a:endParaRPr sz="3000"/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184D06-5354-4261-BD7B-0CC4C5D0E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381375"/>
            <a:ext cx="4238625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C8FB89-ADE3-4292-AAB0-D624CA7C2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381375"/>
            <a:ext cx="8572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D87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FC3D9B-D30B-4CF6-8C43-578210593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552825"/>
            <a:ext cx="3781425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WEEKS 1–5</a:t>
            </a:r>
          </a:p>
          <a:p xmlns:a="http://schemas.openxmlformats.org/drawingml/2006/main">
            <a:pPr algn="l">
              <a:defRPr sz="2475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Audit and EDA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475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Source, cleaning, distributions and review materials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E61F4D-E727-4835-9960-1775C23B3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381375"/>
            <a:ext cx="4238625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DA8A30-FE37-4B91-BDE8-A3BFB1C8D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381375"/>
            <a:ext cx="8572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D87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699AAA-0976-4FCB-9F6C-C0D791E7F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552825"/>
            <a:ext cx="3781425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WEEKS 6–7</a:t>
            </a:r>
          </a:p>
          <a:p xmlns:a="http://schemas.openxmlformats.org/drawingml/2006/main">
            <a:pPr algn="l">
              <a:defRPr sz="2475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Feature engineering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475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Transform, encode, select and run PCA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0BA3C7-AA75-49B8-AA48-21F3527FC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3381375"/>
            <a:ext cx="4238625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C26D6E-745B-4751-9738-83398087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3381375"/>
            <a:ext cx="8572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D87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FA95E1-8462-4AAC-8020-4A7BB8EEB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1950" y="3552825"/>
            <a:ext cx="3781425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WEEKS 8–9</a:t>
            </a:r>
          </a:p>
          <a:p xmlns:a="http://schemas.openxmlformats.org/drawingml/2006/main">
            <a:pPr algn="l">
              <a:defRPr sz="2475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Narrative dashboard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475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Interactive evidence, final report and viva guide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59A635-442B-4133-B3FC-A0246AF0C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7191375"/>
            <a:ext cx="12858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12D63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112D63"/>
                </a:solidFill>
                <a:latin typeface="Calibri"/>
                <a:ea typeface="Calibri"/>
                <a:cs typeface="Calibri"/>
              </a:rPr>
              <a:t>Novelty: each claim includes uncertainty, cleaning sensitivity and job-role checks.</a:t>
            </a:r>
          </a:p>
        </p:txBody>
      </p:sp>
    </p:spTree>
    <p:extLst>
      <p:ext uri="{BB962C8B-B14F-4D97-AF65-F5344CB8AC3E}">
        <p14:creationId xmlns:p14="http://schemas.microsoft.com/office/powerpoint/2010/main" val="185123923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3B9DD02C-9ECB-429C-9019-EDB20BB99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576841"/>
            <a:ext cx="18288000" cy="2058569"/>
          </a:xfrm>
          <a:custGeom xmlns:a="http://schemas.openxmlformats.org/drawingml/2006/main">
            <a:rect l="l" t="t" r="r" b="b"/>
            <a:pathLst>
              <a:path w="3738189" h="420785">
                <a:moveTo>
                  <a:pt x="3534989" y="0"/>
                </a:moveTo>
                <a:lnTo>
                  <a:pt x="0" y="0"/>
                </a:lnTo>
                <a:lnTo>
                  <a:pt x="0" y="420785"/>
                </a:lnTo>
                <a:lnTo>
                  <a:pt x="3534989" y="420785"/>
                </a:lnTo>
                <a:lnTo>
                  <a:pt x="3738189" y="210393"/>
                </a:lnTo>
                <a:lnTo>
                  <a:pt x="3534989" y="0"/>
                </a:lnTo>
                <a:close/>
              </a:path>
            </a:pathLst>
          </a:custGeom>
          <a:solidFill xmlns:a="http://schemas.openxmlformats.org/drawingml/2006/main">
            <a:srgbClr val="112D63"/>
          </a:solidFill>
          <a:ln xmlns:a="http://schemas.openxmlformats.org/drawingml/2006/main" w="19050">
            <a:solidFill>
              <a:srgbClr val="112D6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13AFFEC2-7972-4A1E-893C-18F2673A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250653"/>
            <a:ext cx="17728820" cy="23847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800"/>
              </a:lnSpc>
              <a:buNone/>
            </a:pPr>
            <a:endParaRPr/>
          </a:p>
        </p:txBody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3533BAF5-8873-4825-8E35-85BF98A39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2448" y="923093"/>
            <a:ext cx="8840169" cy="118509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9229"/>
              </a:lnSpc>
              <a:spcBef>
                <a:spcPct val="0"/>
              </a:spcBef>
              <a:buNone/>
            </a:pPr>
            <a:r>
              <a:rPr sz="6592" b="1">
                <a:solidFill>
                  <a:srgbClr val="FFFFFF"/>
                </a:solidFill>
                <a:latin typeface="Poppins Bold"/>
                <a:ea typeface="Poppins Bold"/>
                <a:cs typeface="Poppins Bold"/>
              </a:rPr>
              <a:t>Dataset Description</a:t>
            </a:r>
          </a:p>
        </p:txBody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DCFE84E5-3BEA-4351-97F4-CDE319EAA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6709" y="3231254"/>
            <a:ext cx="9568085" cy="3744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ts val="4235"/>
              </a:lnSpc>
              <a:buNone/>
            </a:pPr>
            <a:r>
              <a:rPr sz="3000" i="1">
                <a:solidFill>
                  <a:srgbClr val="545454"/>
                </a:solidFill>
                <a:latin typeface="Poppins Italics"/>
                <a:ea typeface="Poppins Italics"/>
                <a:cs typeface="Poppins Italics"/>
              </a:rPr>
              <a:t/>
            </a:r>
            <a:endParaRPr/>
          </a:p>
        </p:txBody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E5D5B10D-2DF0-4861-8336-DF0D91257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484" y="3326504"/>
            <a:ext cx="1561780" cy="1561780"/>
          </a:xfrm>
          <a:custGeom xmlns:a="http://schemas.openxmlformats.org/drawingml/2006/main">
            <a:rect l="l" t="t" r="r" b="b"/>
            <a:pathLst>
              <a:path w="1561780" h="1561780">
                <a:moveTo>
                  <a:pt x="0" y="0"/>
                </a:moveTo>
                <a:lnTo>
                  <a:pt x="1561781" y="0"/>
                </a:lnTo>
                <a:lnTo>
                  <a:pt x="1561781" y="1561780"/>
                </a:lnTo>
                <a:lnTo>
                  <a:pt x="0" y="156178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e9a89c7a1f64b8a">
              <a:extLst>
                <a:ext uri="{96DAC541-7B7A-43D3-8B79-37D633B846F1}">
                  <asvg:svgBlip xmlns:asvg="http://schemas.microsoft.com/office/drawing/2016/SVG/main" r:embed="R6f324912753446c7"/>
                </a:ext>
              </a:extLst>
            </a:blip>
            <a:stretch>
              <a:fillRect l="0" t="0" r="0" b="0"/>
            </a:stretch>
          </a:blip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C92D3D-6EAD-431B-8513-CC4402B2F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190875"/>
            <a:ext cx="2571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87D87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87D87"/>
                </a:solidFill>
                <a:latin typeface="Calibri"/>
                <a:ea typeface="Calibri"/>
                <a:cs typeface="Calibri"/>
              </a:rPr>
              <a:t>SOURCE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399820-C888-447B-A94B-EC1852825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3190875"/>
            <a:ext cx="1114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775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Kaggle / Nikhil Bhosle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1C7D7E-59AC-4596-88CC-48A098207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286250"/>
            <a:ext cx="2571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87D87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87D87"/>
                </a:solidFill>
                <a:latin typeface="Calibri"/>
                <a:ea typeface="Calibri"/>
                <a:cs typeface="Calibri"/>
              </a:rPr>
              <a:t>RAW DATA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72334B-75BF-47D8-837B-6B5A79641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4286250"/>
            <a:ext cx="1114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775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74,610 records · 24 original columns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898FD9-3CB2-4587-B7D2-EA6236EE4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381625"/>
            <a:ext cx="2571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87D87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87D87"/>
                </a:solidFill>
                <a:latin typeface="Calibri"/>
                <a:ea typeface="Calibri"/>
                <a:cs typeface="Calibri"/>
              </a:rPr>
              <a:t>TARGET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D42E87-81E6-498A-9887-55DC5E67A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5381625"/>
            <a:ext cx="1114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775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Attrition: Left or Stayed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CA904B-A712-49C1-B964-E2A32932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6477000"/>
            <a:ext cx="2571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87D87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87D87"/>
                </a:solidFill>
                <a:latin typeface="Calibri"/>
                <a:ea typeface="Calibri"/>
                <a:cs typeface="Calibri"/>
              </a:rPr>
              <a:t>TYPE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DF1980-EED6-4268-AED6-5E0549EED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6477000"/>
            <a:ext cx="1114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775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Structured employee-level CSV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24E51E-A81F-4E47-B6E5-8C22A3951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7572375"/>
            <a:ext cx="2571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87D87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87D87"/>
                </a:solidFill>
                <a:latin typeface="Calibri"/>
                <a:ea typeface="Calibri"/>
                <a:cs typeface="Calibri"/>
              </a:rPr>
              <a:t>CLEAN BASE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81ADEF-8D60-49DA-878C-3AD89DEE2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7572375"/>
            <a:ext cx="1114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75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775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74,498 rows after 112 exact duplicates</a:t>
            </a:r>
          </a:p>
        </p:txBody>
      </p:sp>
    </p:spTree>
    <p:extLst>
      <p:ext uri="{BB962C8B-B14F-4D97-AF65-F5344CB8AC3E}">
        <p14:creationId xmlns:p14="http://schemas.microsoft.com/office/powerpoint/2010/main" val="163712984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D87E1DEF-AFF8-43C9-86BB-3AED7AE51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576841"/>
            <a:ext cx="18288000" cy="2058569"/>
          </a:xfrm>
          <a:custGeom xmlns:a="http://schemas.openxmlformats.org/drawingml/2006/main">
            <a:rect l="l" t="t" r="r" b="b"/>
            <a:pathLst>
              <a:path w="3738189" h="420785">
                <a:moveTo>
                  <a:pt x="3534989" y="0"/>
                </a:moveTo>
                <a:lnTo>
                  <a:pt x="0" y="0"/>
                </a:lnTo>
                <a:lnTo>
                  <a:pt x="0" y="420785"/>
                </a:lnTo>
                <a:lnTo>
                  <a:pt x="3534989" y="420785"/>
                </a:lnTo>
                <a:lnTo>
                  <a:pt x="3738189" y="210393"/>
                </a:lnTo>
                <a:lnTo>
                  <a:pt x="3534989" y="0"/>
                </a:lnTo>
                <a:close/>
              </a:path>
            </a:pathLst>
          </a:custGeom>
          <a:solidFill xmlns:a="http://schemas.openxmlformats.org/drawingml/2006/main">
            <a:srgbClr val="112D63"/>
          </a:solidFill>
          <a:ln xmlns:a="http://schemas.openxmlformats.org/drawingml/2006/main" w="19050">
            <a:solidFill>
              <a:srgbClr val="112D6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7BC5C66D-4EF3-47D0-9207-1DB7BBDCD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250653"/>
            <a:ext cx="17728820" cy="23847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800"/>
              </a:lnSpc>
              <a:buNone/>
            </a:pPr>
            <a:endParaRPr/>
          </a:p>
        </p:txBody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98CC2C27-B7ED-4C27-A346-97A8438C3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65" y="985640"/>
            <a:ext cx="16178870" cy="106952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8250"/>
              </a:lnSpc>
              <a:spcBef>
                <a:spcPct val="0"/>
              </a:spcBef>
              <a:buNone/>
            </a:pPr>
            <a:r>
              <a:rPr sz="5892" b="1">
                <a:solidFill>
                  <a:srgbClr val="FFFFFF"/>
                </a:solidFill>
                <a:latin typeface="Poppins Bold"/>
                <a:ea typeface="Poppins Bold"/>
                <a:cs typeface="Poppins Bold"/>
              </a:rPr>
              <a:t>Methodology(Process / Workflow)</a:t>
            </a:r>
          </a:p>
        </p:txBody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1593BDB9-6CA6-46AA-8531-3AFDB66E0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6709" y="3231254"/>
            <a:ext cx="9568085" cy="320562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ts val="4235"/>
              </a:lnSpc>
              <a:buNone/>
            </a:pPr>
            <a:r>
              <a:rPr sz="3000" i="1">
                <a:solidFill>
                  <a:srgbClr val="545454"/>
                </a:solidFill>
                <a:latin typeface="Poppins Italics"/>
                <a:ea typeface="Poppins Italics"/>
                <a:cs typeface="Poppins Italics"/>
              </a:rPr>
              <a:t/>
            </a:r>
            <a:endParaRPr/>
          </a:p>
        </p:txBody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9FAB8608-9DC3-4768-BCB4-C476F8BCA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787" y="3086100"/>
            <a:ext cx="2066922" cy="2057400"/>
          </a:xfrm>
          <a:custGeom xmlns:a="http://schemas.openxmlformats.org/drawingml/2006/main">
            <a:rect l="l" t="t" r="r" b="b"/>
            <a:pathLst>
              <a:path w="2066922" h="2057400">
                <a:moveTo>
                  <a:pt x="0" y="0"/>
                </a:moveTo>
                <a:lnTo>
                  <a:pt x="2066922" y="0"/>
                </a:lnTo>
                <a:lnTo>
                  <a:pt x="2066922" y="2057400"/>
                </a:lnTo>
                <a:lnTo>
                  <a:pt x="0" y="20574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fecd435360d44f22">
              <a:extLst>
                <a:ext uri="{96DAC541-7B7A-43D3-8B79-37D633B846F1}">
                  <asvg:svgBlip xmlns:asvg="http://schemas.microsoft.com/office/drawing/2016/SVG/main" r:embed="R5ccde8a4ce07431e"/>
                </a:ext>
              </a:extLst>
            </a:blip>
            <a:stretch>
              <a:fillRect l="0" t="0" r="0" b="0"/>
            </a:stretch>
          </a:blip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34E076-A411-4481-A10A-46BA8402F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143250"/>
            <a:ext cx="6667500" cy="2238375"/>
          </a:xfrm>
          <a:prstGeom xmlns:a="http://schemas.openxmlformats.org/drawingml/2006/main" prst="roundRect">
            <a:avLst>
              <a:gd name="adj" fmla="val 34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496461-D237-40BE-A0F5-D99095D3E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143250"/>
            <a:ext cx="85725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D87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0B8C38-A555-49B4-9D68-ADA6F2D16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314700"/>
            <a:ext cx="6210300" cy="1895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1   Audit and clean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250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Load raw data; deduplicate, impute and retain flags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02AF03-39BF-4FE8-9310-6870F2F68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6667500" cy="2238375"/>
          </a:xfrm>
          <a:prstGeom xmlns:a="http://schemas.openxmlformats.org/drawingml/2006/main" prst="roundRect">
            <a:avLst>
              <a:gd name="adj" fmla="val 34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1D82D7-22D1-40BB-89C2-7223DB67C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85725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D87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A6BD70-5ED0-4599-83DC-27C87EE23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314700"/>
            <a:ext cx="6210300" cy="1895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2   Explore and check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250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Distributions, intervals, cleaning sensitivity and role checks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3426AF-ED3C-4F37-828A-25698E6F1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857875"/>
            <a:ext cx="6667500" cy="2238375"/>
          </a:xfrm>
          <a:prstGeom xmlns:a="http://schemas.openxmlformats.org/drawingml/2006/main" prst="roundRect">
            <a:avLst>
              <a:gd name="adj" fmla="val 34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5D9C23-C6AD-4D8C-AA55-E6DCD7D6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857875"/>
            <a:ext cx="85725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D87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C006FA-64C2-4362-A28A-1C01D81E4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6029325"/>
            <a:ext cx="6210300" cy="1895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3   Transform and encode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250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Income Yeo–Johnson; numeric scaling; one-hot encoding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2881C3-B4E1-4D4E-9725-80A970C26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5857875"/>
            <a:ext cx="6667500" cy="2238375"/>
          </a:xfrm>
          <a:prstGeom xmlns:a="http://schemas.openxmlformats.org/drawingml/2006/main" prst="roundRect">
            <a:avLst>
              <a:gd name="adj" fmla="val 34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ED2C3E-52E1-4759-8C7B-439243126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5857875"/>
            <a:ext cx="85725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D87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FA5A88-7504-409E-9F15-A5FAA91DE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6029325"/>
            <a:ext cx="6210300" cy="1895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4   PCA and dashboard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250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Variance retention, 2D/3D maps and six story chapters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F27C7F-2265-4FCB-A0FA-94C583764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8953500"/>
            <a:ext cx="1238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4A5869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4A5869"/>
                </a:solidFill>
                <a:latin typeface="Calibri"/>
                <a:ea typeface="Calibri"/>
                <a:cs typeface="Calibri"/>
              </a:rPr>
              <a:t>Nine executed notebooks · 14 automated tests passed · eight interactive plot types</a:t>
            </a:r>
          </a:p>
        </p:txBody>
      </p:sp>
    </p:spTree>
    <p:extLst>
      <p:ext uri="{BB962C8B-B14F-4D97-AF65-F5344CB8AC3E}">
        <p14:creationId xmlns:p14="http://schemas.microsoft.com/office/powerpoint/2010/main" val="203769751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B5C64BFD-1DF1-466A-9C7B-E08E673D5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576841"/>
            <a:ext cx="18288000" cy="2058569"/>
          </a:xfrm>
          <a:custGeom xmlns:a="http://schemas.openxmlformats.org/drawingml/2006/main">
            <a:rect l="l" t="t" r="r" b="b"/>
            <a:pathLst>
              <a:path w="3738189" h="420785">
                <a:moveTo>
                  <a:pt x="3534989" y="0"/>
                </a:moveTo>
                <a:lnTo>
                  <a:pt x="0" y="0"/>
                </a:lnTo>
                <a:lnTo>
                  <a:pt x="0" y="420785"/>
                </a:lnTo>
                <a:lnTo>
                  <a:pt x="3534989" y="420785"/>
                </a:lnTo>
                <a:lnTo>
                  <a:pt x="3738189" y="210393"/>
                </a:lnTo>
                <a:lnTo>
                  <a:pt x="3534989" y="0"/>
                </a:lnTo>
                <a:close/>
              </a:path>
            </a:pathLst>
          </a:custGeom>
          <a:solidFill xmlns:a="http://schemas.openxmlformats.org/drawingml/2006/main">
            <a:srgbClr val="112D63"/>
          </a:solidFill>
          <a:ln xmlns:a="http://schemas.openxmlformats.org/drawingml/2006/main" w="19050">
            <a:solidFill>
              <a:srgbClr val="112D6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61B4965B-C9BB-4351-9AAD-03BC544D0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250653"/>
            <a:ext cx="17728820" cy="23847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800"/>
              </a:lnSpc>
              <a:buNone/>
            </a:pPr>
            <a:endParaRPr/>
          </a:p>
        </p:txBody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5E03F37A-4693-4821-BCDE-60468D589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2149" y="2655777"/>
            <a:ext cx="9568085" cy="16186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4235"/>
              </a:lnSpc>
              <a:buNone/>
            </a:pPr>
            <a:r>
              <a:t/>
            </a:r>
            <a:endParaRPr/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F090C49D-BB1F-45F3-B479-3D58BFF3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87" y="3118147"/>
            <a:ext cx="1765895" cy="2312481"/>
          </a:xfrm>
          <a:custGeom xmlns:a="http://schemas.openxmlformats.org/drawingml/2006/main">
            <a:rect l="l" t="t" r="r" b="b"/>
            <a:pathLst>
              <a:path w="1765895" h="2312481">
                <a:moveTo>
                  <a:pt x="0" y="0"/>
                </a:moveTo>
                <a:lnTo>
                  <a:pt x="1765895" y="0"/>
                </a:lnTo>
                <a:lnTo>
                  <a:pt x="1765895" y="2312481"/>
                </a:lnTo>
                <a:lnTo>
                  <a:pt x="0" y="2312481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03476b3516f54f71">
              <a:extLst>
                <a:ext uri="{96DAC541-7B7A-43D3-8B79-37D633B846F1}">
                  <asvg:svgBlip xmlns:asvg="http://schemas.microsoft.com/office/drawing/2016/SVG/main" r:embed="R723a3c14eb374ec4"/>
                </a:ext>
              </a:extLst>
            </a:blip>
            <a:stretch>
              <a:fillRect l="0" t="0" r="0" b="0"/>
            </a:stretch>
          </a:blip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FFBFC79A-7CB7-4A47-9C8E-1990B06A5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65" y="985640"/>
            <a:ext cx="16178870" cy="106952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8250"/>
              </a:lnSpc>
              <a:spcBef>
                <a:spcPct val="0"/>
              </a:spcBef>
              <a:buNone/>
            </a:pPr>
            <a:r>
              <a:rPr sz="5892" b="1">
                <a:solidFill>
                  <a:srgbClr val="FFFFFF"/>
                </a:solidFill>
                <a:latin typeface="Poppins Bold"/>
                <a:ea typeface="Poppins Bold"/>
                <a:cs typeface="Poppins Bold"/>
              </a:rPr>
              <a:t>Results From Workflow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5C11E8-5562-473B-A509-C6F74F7F6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333750"/>
            <a:ext cx="3810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12D63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112D63"/>
                </a:solidFill>
                <a:latin typeface="Calibri"/>
                <a:ea typeface="Calibri"/>
                <a:cs typeface="Calibri"/>
              </a:rPr>
              <a:t>74,610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AAD408-C9B2-4361-9A3F-0948E149F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143375"/>
            <a:ext cx="3810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A5869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4A5869"/>
                </a:solidFill>
                <a:latin typeface="Calibri"/>
                <a:ea typeface="Calibri"/>
                <a:cs typeface="Calibri"/>
              </a:rPr>
              <a:t>raw rows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FF3C66-A71C-499D-93E3-7B528DB23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333750"/>
            <a:ext cx="3810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12D63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112D63"/>
                </a:solidFill>
                <a:latin typeface="Calibri"/>
                <a:ea typeface="Calibri"/>
                <a:cs typeface="Calibri"/>
              </a:rPr>
              <a:t>112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2A3FF4-F0C2-4A0E-8DCE-EACB21AEE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143375"/>
            <a:ext cx="3810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A5869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4A5869"/>
                </a:solidFill>
                <a:latin typeface="Calibri"/>
                <a:ea typeface="Calibri"/>
                <a:cs typeface="Calibri"/>
              </a:rPr>
              <a:t>exact duplicates removed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F54B1B-0337-46AF-9646-838BFCAF3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3333750"/>
            <a:ext cx="4000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12D63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112D63"/>
                </a:solidFill>
                <a:latin typeface="Calibri"/>
                <a:ea typeface="Calibri"/>
                <a:cs typeface="Calibri"/>
              </a:rPr>
              <a:t>4,325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7CC110-F9BF-46D6-9798-C21DE314D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4143375"/>
            <a:ext cx="400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4A5869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4A5869"/>
                </a:solidFill>
                <a:latin typeface="Calibri"/>
                <a:ea typeface="Calibri"/>
                <a:cs typeface="Calibri"/>
              </a:rPr>
              <a:t>raw missing cells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1574CD-CD0B-4D24-A6C8-4D8A5A050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7340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D87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B7A725-545B-484D-BA98-3F74426EB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619750"/>
            <a:ext cx="138874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After deduplication: 1,897 distance and 2,381 tenure values median-imputed; flags kept.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02CC8E-4A24-4191-AD04-AD0DE1948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721042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D87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B72B20-C98D-4518-8C73-EF20D8B30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7096125"/>
            <a:ext cx="138874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Two corrupted education labels repaired; 151 income IQR outliers flagged.</a:t>
            </a:r>
          </a:p>
        </p:txBody>
      </p:sp>
    </p:spTree>
    <p:extLst>
      <p:ext uri="{BB962C8B-B14F-4D97-AF65-F5344CB8AC3E}">
        <p14:creationId xmlns:p14="http://schemas.microsoft.com/office/powerpoint/2010/main" val="33653864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7067C93F-55B0-4B4C-86D8-2C632875E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576841"/>
            <a:ext cx="18288000" cy="2058569"/>
          </a:xfrm>
          <a:custGeom xmlns:a="http://schemas.openxmlformats.org/drawingml/2006/main">
            <a:rect l="l" t="t" r="r" b="b"/>
            <a:pathLst>
              <a:path w="3738189" h="420785">
                <a:moveTo>
                  <a:pt x="3534989" y="0"/>
                </a:moveTo>
                <a:lnTo>
                  <a:pt x="0" y="0"/>
                </a:lnTo>
                <a:lnTo>
                  <a:pt x="0" y="420785"/>
                </a:lnTo>
                <a:lnTo>
                  <a:pt x="3534989" y="420785"/>
                </a:lnTo>
                <a:lnTo>
                  <a:pt x="3738189" y="210393"/>
                </a:lnTo>
                <a:lnTo>
                  <a:pt x="3534989" y="0"/>
                </a:lnTo>
                <a:close/>
              </a:path>
            </a:pathLst>
          </a:custGeom>
          <a:solidFill xmlns:a="http://schemas.openxmlformats.org/drawingml/2006/main">
            <a:srgbClr val="112D63"/>
          </a:solidFill>
          <a:ln xmlns:a="http://schemas.openxmlformats.org/drawingml/2006/main" w="19050">
            <a:solidFill>
              <a:srgbClr val="112D6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7737D5FE-035A-48A5-B9E2-8F3E234C1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250653"/>
            <a:ext cx="17728820" cy="23847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800"/>
              </a:lnSpc>
              <a:buNone/>
            </a:pPr>
            <a:endParaRPr/>
          </a:p>
        </p:txBody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55DDC029-5C99-4BED-B2F4-DD4E30C11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2149" y="2655777"/>
            <a:ext cx="11811356" cy="37522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4235"/>
              </a:lnSpc>
              <a:buNone/>
            </a:pPr>
            <a:r>
              <a:t/>
            </a:r>
            <a:endParaRPr/>
          </a:p>
        </p:txBody>
      </p:sp>
      <p:sp>
        <p:nvSpPr>
          <p:cNvPr id="6" name="Freeform 6">
            <a:extLst xmlns:a="http://schemas.openxmlformats.org/drawingml/2006/main">
              <a:ext uri="{FF2B5EF4-FFF2-40B4-BE49-F238E27FC236}">
                <a16:creationId xmlns:a16="http://schemas.microsoft.com/office/drawing/2014/main" id="{DE1E5C56-90B6-4867-A8E4-36451D94E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87" y="3118147"/>
            <a:ext cx="1765895" cy="2312481"/>
          </a:xfrm>
          <a:custGeom xmlns:a="http://schemas.openxmlformats.org/drawingml/2006/main">
            <a:rect l="l" t="t" r="r" b="b"/>
            <a:pathLst>
              <a:path w="1765895" h="2312481">
                <a:moveTo>
                  <a:pt x="0" y="0"/>
                </a:moveTo>
                <a:lnTo>
                  <a:pt x="1765895" y="0"/>
                </a:lnTo>
                <a:lnTo>
                  <a:pt x="1765895" y="2312481"/>
                </a:lnTo>
                <a:lnTo>
                  <a:pt x="0" y="2312481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f55104e0a1564eff">
              <a:extLst>
                <a:ext uri="{96DAC541-7B7A-43D3-8B79-37D633B846F1}">
                  <asvg:svgBlip xmlns:asvg="http://schemas.microsoft.com/office/drawing/2016/SVG/main" r:embed="R1b2ac89d022148ec"/>
                </a:ext>
              </a:extLst>
            </a:blip>
            <a:stretch>
              <a:fillRect l="0" t="0" r="0" b="0"/>
            </a:stretch>
          </a:blip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DE187B88-B881-4C33-808C-18017420D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65" y="985640"/>
            <a:ext cx="16178870" cy="106952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8250"/>
              </a:lnSpc>
              <a:spcBef>
                <a:spcPct val="0"/>
              </a:spcBef>
              <a:buNone/>
            </a:pPr>
            <a:r>
              <a:rPr sz="5892" b="1">
                <a:solidFill>
                  <a:srgbClr val="FFFFFF"/>
                </a:solidFill>
                <a:latin typeface="Poppins Bold"/>
                <a:ea typeface="Poppins Bold"/>
                <a:cs typeface="Poppins Bold"/>
              </a:rPr>
              <a:t>Results From Workflow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65477F-1855-4BEA-B2A7-EB702DEFA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914650"/>
            <a:ext cx="1390650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2D63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112D63"/>
                </a:solidFill>
                <a:latin typeface="Calibri"/>
                <a:ea typeface="Calibri"/>
                <a:cs typeface="Calibri"/>
              </a:rPr>
              <a:t>Observed left share: 47.48%  (35,370 Left / 74,498 records)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1163db090246f0"/>
          <a:stretch xmlns:a="http://schemas.openxmlformats.org/drawingml/2006/main"/>
        </p:blipFill>
        <p:spPr>
          <a:xfrm xmlns:a="http://schemas.openxmlformats.org/drawingml/2006/main">
            <a:off x="3629461" y="3762375"/>
            <a:ext cx="11029077" cy="5286375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2DFF06-EE05-4059-A0B3-E4A42D9C6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9220200"/>
            <a:ext cx="1428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4A5869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4A5869"/>
                </a:solidFill>
                <a:latin typeface="Calibri"/>
                <a:ea typeface="Calibri"/>
                <a:cs typeface="Calibri"/>
              </a:rPr>
              <a:t>Largest selected gaps: limited remote access +28.12 pp; poor/fair balance +19.54 pp.</a:t>
            </a:r>
          </a:p>
        </p:txBody>
      </p:sp>
    </p:spTree>
    <p:extLst>
      <p:ext uri="{BB962C8B-B14F-4D97-AF65-F5344CB8AC3E}">
        <p14:creationId xmlns:p14="http://schemas.microsoft.com/office/powerpoint/2010/main" val="171816014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D664E72F-B355-44F9-946A-F67C05A97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576841"/>
            <a:ext cx="18288000" cy="2058569"/>
          </a:xfrm>
          <a:custGeom xmlns:a="http://schemas.openxmlformats.org/drawingml/2006/main">
            <a:rect l="l" t="t" r="r" b="b"/>
            <a:pathLst>
              <a:path w="3738189" h="420785">
                <a:moveTo>
                  <a:pt x="3534989" y="0"/>
                </a:moveTo>
                <a:lnTo>
                  <a:pt x="0" y="0"/>
                </a:lnTo>
                <a:lnTo>
                  <a:pt x="0" y="420785"/>
                </a:lnTo>
                <a:lnTo>
                  <a:pt x="3534989" y="420785"/>
                </a:lnTo>
                <a:lnTo>
                  <a:pt x="3738189" y="210393"/>
                </a:lnTo>
                <a:lnTo>
                  <a:pt x="3534989" y="0"/>
                </a:lnTo>
                <a:close/>
              </a:path>
            </a:pathLst>
          </a:custGeom>
          <a:solidFill xmlns:a="http://schemas.openxmlformats.org/drawingml/2006/main">
            <a:srgbClr val="112D63"/>
          </a:solidFill>
          <a:ln xmlns:a="http://schemas.openxmlformats.org/drawingml/2006/main" w="19050">
            <a:solidFill>
              <a:srgbClr val="112D6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6A06FFDB-93A0-445B-912C-7EC393B33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250653"/>
            <a:ext cx="17728820" cy="23847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800"/>
              </a:lnSpc>
              <a:buNone/>
            </a:pPr>
            <a:endParaRPr/>
          </a:p>
        </p:txBody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7F644706-70C4-4D9E-8BBF-123503322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279" y="3424008"/>
            <a:ext cx="2201327" cy="1929163"/>
          </a:xfrm>
          <a:custGeom xmlns:a="http://schemas.openxmlformats.org/drawingml/2006/main">
            <a:rect l="l" t="t" r="r" b="b"/>
            <a:pathLst>
              <a:path w="2201327" h="1929163">
                <a:moveTo>
                  <a:pt x="0" y="0"/>
                </a:moveTo>
                <a:lnTo>
                  <a:pt x="2201327" y="0"/>
                </a:lnTo>
                <a:lnTo>
                  <a:pt x="2201327" y="1929163"/>
                </a:lnTo>
                <a:lnTo>
                  <a:pt x="0" y="1929163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9fae4c1731164d0e">
              <a:extLst>
                <a:ext uri="{96DAC541-7B7A-43D3-8B79-37D633B846F1}">
                  <asvg:svgBlip xmlns:asvg="http://schemas.microsoft.com/office/drawing/2016/SVG/main" r:embed="R411a0a609fd84357"/>
                </a:ext>
              </a:extLst>
            </a:blip>
            <a:stretch>
              <a:fillRect l="0" t="0" r="0" b="0"/>
            </a:stretch>
          </a:blip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31EF852C-6F85-47BB-A675-2ED14ECD3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3883" y="2998259"/>
            <a:ext cx="9568085" cy="26854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4235"/>
              </a:lnSpc>
              <a:buNone/>
            </a:pPr>
            <a:r>
              <a:rPr sz="3025" i="1">
                <a:solidFill>
                  <a:srgbClr val="545454"/>
                </a:solidFill>
                <a:latin typeface="Poppins Italics"/>
                <a:ea typeface="Poppins Italics"/>
                <a:cs typeface="Poppins Italics"/>
              </a:rPr>
              <a:t/>
            </a:r>
          </a:p>
        </p:txBody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594C6423-EFF2-4451-9691-DC170F188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65" y="985640"/>
            <a:ext cx="16178870" cy="106952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8250"/>
              </a:lnSpc>
              <a:spcBef>
                <a:spcPct val="0"/>
              </a:spcBef>
              <a:buNone/>
            </a:pPr>
            <a:r>
              <a:rPr sz="5892" b="1">
                <a:solidFill>
                  <a:srgbClr val="FFFFFF"/>
                </a:solidFill>
                <a:latin typeface="Poppins Bold"/>
                <a:ea typeface="Poppins Bold"/>
                <a:cs typeface="Poppins Bold"/>
              </a:rPr>
              <a:t>Final Results: Features &amp; PCA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5E732F-923F-4E69-9B57-0DCC3C48B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2952750"/>
            <a:ext cx="13811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2D63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112D63"/>
                </a:solidFill>
                <a:latin typeface="Calibri"/>
                <a:ea typeface="Calibri"/>
                <a:cs typeface="Calibri"/>
              </a:rPr>
              <a:t>40 encoded features → 24 components → 90.10% variance retained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d1659c3b3e4f5c"/>
          <a:stretch xmlns:a="http://schemas.openxmlformats.org/drawingml/2006/main"/>
        </p:blipFill>
        <p:spPr>
          <a:xfrm xmlns:a="http://schemas.openxmlformats.org/drawingml/2006/main">
            <a:off x="2476500" y="3970395"/>
            <a:ext cx="13430250" cy="434646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C8DC2D-0EDB-4BE4-9330-BA5EA32B7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8667750"/>
            <a:ext cx="13335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4A5869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4A5869"/>
                </a:solidFill>
                <a:latin typeface="Calibri"/>
                <a:ea typeface="Calibri"/>
                <a:cs typeface="Calibri"/>
              </a:rPr>
              <a:t>Income skew: 5.208 → 0.038. PC1 + PC2 show only 22.24% of variance.</a:t>
            </a:r>
          </a:p>
        </p:txBody>
      </p:sp>
    </p:spTree>
    <p:extLst>
      <p:ext uri="{BB962C8B-B14F-4D97-AF65-F5344CB8AC3E}">
        <p14:creationId xmlns:p14="http://schemas.microsoft.com/office/powerpoint/2010/main" val="64599492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9F916760-1567-452E-9309-B8D599890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576841"/>
            <a:ext cx="18288000" cy="2058569"/>
          </a:xfrm>
          <a:custGeom xmlns:a="http://schemas.openxmlformats.org/drawingml/2006/main">
            <a:rect l="l" t="t" r="r" b="b"/>
            <a:pathLst>
              <a:path w="3738189" h="420785">
                <a:moveTo>
                  <a:pt x="3534989" y="0"/>
                </a:moveTo>
                <a:lnTo>
                  <a:pt x="0" y="0"/>
                </a:lnTo>
                <a:lnTo>
                  <a:pt x="0" y="420785"/>
                </a:lnTo>
                <a:lnTo>
                  <a:pt x="3534989" y="420785"/>
                </a:lnTo>
                <a:lnTo>
                  <a:pt x="3738189" y="210393"/>
                </a:lnTo>
                <a:lnTo>
                  <a:pt x="3534989" y="0"/>
                </a:lnTo>
                <a:close/>
              </a:path>
            </a:pathLst>
          </a:custGeom>
          <a:solidFill xmlns:a="http://schemas.openxmlformats.org/drawingml/2006/main">
            <a:srgbClr val="112D63"/>
          </a:solidFill>
          <a:ln xmlns:a="http://schemas.openxmlformats.org/drawingml/2006/main" w="19050">
            <a:solidFill>
              <a:srgbClr val="112D6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B7A5140E-C6BA-4713-A60E-07B383D65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250653"/>
            <a:ext cx="17728820" cy="23847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800"/>
              </a:lnSpc>
              <a:buNone/>
            </a:pPr>
            <a:endParaRPr/>
          </a:p>
        </p:txBody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0C8E067E-26C2-4429-8A3B-38704BBC8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16" y="3187394"/>
            <a:ext cx="2395573" cy="2260550"/>
          </a:xfrm>
          <a:custGeom xmlns:a="http://schemas.openxmlformats.org/drawingml/2006/main">
            <a:rect l="l" t="t" r="r" b="b"/>
            <a:pathLst>
              <a:path w="2395573" h="2260550">
                <a:moveTo>
                  <a:pt x="0" y="0"/>
                </a:moveTo>
                <a:lnTo>
                  <a:pt x="2395573" y="0"/>
                </a:lnTo>
                <a:lnTo>
                  <a:pt x="2395573" y="2260550"/>
                </a:lnTo>
                <a:lnTo>
                  <a:pt x="0" y="226055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1cc612407fd440b3">
              <a:extLst>
                <a:ext uri="{96DAC541-7B7A-43D3-8B79-37D633B846F1}">
                  <asvg:svgBlip xmlns:asvg="http://schemas.microsoft.com/office/drawing/2016/SVG/main" r:embed="Rfde8a197865a4461"/>
                </a:ext>
              </a:extLst>
            </a:blip>
            <a:stretch>
              <a:fillRect l="0" t="0" r="0" b="0"/>
            </a:stretch>
          </a:blip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graphicFrame>
        <p:nvGraphicFramePr>
          <p:cNvPr id="12" name="Table 6"/>
          <p:cNvGraphicFramePr/>
          <p:nvPr/>
        </p:nvGraphicFramePr>
        <p:xfrm>
          <a:off xmlns:a="http://schemas.openxmlformats.org/drawingml/2006/main" x="2986755" y="2930228"/>
          <a:ext xmlns:a="http://schemas.openxmlformats.org/drawingml/2006/main" cx="13339985" cy="6328072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111263"/>
                <a:gridCol w="6228722"/>
              </a:tblGrid>
              <a:tr h="1322412">
                <a:tc>
                  <a:txBody>
                    <a:bodyPr/>
                    <a:lstStyle/>
                    <a:p>
                      <a:pPr algn="ctr">
                        <a:lnSpc>
                          <a:spcPts val="5039"/>
                        </a:lnSpc>
                        <a:buNone/>
                      </a:pPr>
                      <a:r>
                        <a:rPr sz="3599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</a:rPr>
                        <a:t>Team Member</a:t>
                      </a:r>
                      <a:endParaRPr sz="1100"/>
                    </a:p>
                  </a:txBody>
                  <a:tcPr marL="190500" marR="190500" marT="190500" marB="190500" anchor="ctr">
                    <a:lnL w="38100" cmpd="sng">
                      <a:solidFill>
                        <a:srgbClr val="000000"/>
                      </a:solidFill>
                      <a:prstDash val="solid"/>
                    </a:lnL>
                    <a:lnR w="38100" cmpd="sng">
                      <a:solidFill>
                        <a:srgbClr val="000000"/>
                      </a:solidFill>
                      <a:prstDash val="solid"/>
                    </a:lnR>
                    <a:lnT w="38100" cmpd="sng">
                      <a:solidFill>
                        <a:srgbClr val="000000"/>
                      </a:solidFill>
                      <a:prstDash val="solid"/>
                    </a:lnT>
                    <a:lnB w="3810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4339"/>
                        </a:lnSpc>
                        <a:buNone/>
                      </a:pPr>
                      <a:r>
                        <a:rPr sz="3099">
                          <a:solidFill>
                            <a:srgbClr val="000000"/>
                          </a:solidFill>
                          <a:latin typeface="Poppins"/>
                          <a:ea typeface="Poppins"/>
                          <a:cs typeface="Poppins"/>
                        </a:rPr>
                        <a:t>Roles &amp; Responsibilities</a:t>
                      </a:r>
                      <a:endParaRPr sz="1100"/>
                    </a:p>
                  </a:txBody>
                  <a:tcPr marL="190500" marR="190500" marT="190500" marB="190500" anchor="ctr">
                    <a:lnL w="38100" cmpd="sng">
                      <a:solidFill>
                        <a:srgbClr val="000000"/>
                      </a:solidFill>
                      <a:prstDash val="solid"/>
                    </a:lnL>
                    <a:lnR w="38100" cmpd="sng">
                      <a:solidFill>
                        <a:srgbClr val="000000"/>
                      </a:solidFill>
                      <a:prstDash val="solid"/>
                    </a:lnR>
                    <a:lnT w="38100" cmpd="sng">
                      <a:solidFill>
                        <a:srgbClr val="000000"/>
                      </a:solidFill>
                      <a:prstDash val="solid"/>
                    </a:lnT>
                    <a:lnB w="3810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970057">
                <a:tc>
                  <a:txBody>
                    <a:bodyPr/>
                    <a:lstStyle/>
                    <a:p>
                      <a:pPr algn="ctr">
                        <a:lnSpc>
                          <a:spcPts val="2800"/>
                        </a:lnSpc>
                        <a:buNone/>
                      </a:pPr>
                      <a:r>
                        <a:t>Rohith Varma (25BAD090)</a:t>
                      </a:r>
                      <a:endParaRPr sz="1100"/>
                    </a:p>
                  </a:txBody>
                  <a:tcPr marL="190500" marR="190500" marT="190500" marB="190500" anchor="ctr">
                    <a:lnL w="38100" cmpd="sng">
                      <a:solidFill>
                        <a:srgbClr val="000000"/>
                      </a:solidFill>
                      <a:prstDash val="solid"/>
                    </a:lnL>
                    <a:lnR w="38100" cmpd="sng">
                      <a:solidFill>
                        <a:srgbClr val="000000"/>
                      </a:solidFill>
                      <a:prstDash val="solid"/>
                    </a:lnR>
                    <a:lnT w="38100" cmpd="sng">
                      <a:solidFill>
                        <a:srgbClr val="000000"/>
                      </a:solidFill>
                      <a:prstDash val="solid"/>
                    </a:lnT>
                    <a:lnB w="3810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00"/>
                        </a:lnSpc>
                        <a:buNone/>
                      </a:pPr>
                      <a:r>
                        <a:t>Data engineering: source, quality audit and cleaning</a:t>
                      </a:r>
                      <a:endParaRPr sz="1100"/>
                    </a:p>
                  </a:txBody>
                  <a:tcPr marL="190500" marR="190500" marT="190500" marB="190500" anchor="ctr">
                    <a:lnL w="38100" cmpd="sng">
                      <a:solidFill>
                        <a:srgbClr val="000000"/>
                      </a:solidFill>
                      <a:prstDash val="solid"/>
                    </a:lnL>
                    <a:lnR w="38100" cmpd="sng">
                      <a:solidFill>
                        <a:srgbClr val="000000"/>
                      </a:solidFill>
                      <a:prstDash val="solid"/>
                    </a:lnR>
                    <a:lnT w="38100" cmpd="sng">
                      <a:solidFill>
                        <a:srgbClr val="000000"/>
                      </a:solidFill>
                      <a:prstDash val="solid"/>
                    </a:lnT>
                    <a:lnB w="3810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1010453">
                <a:tc>
                  <a:txBody>
                    <a:bodyPr/>
                    <a:lstStyle/>
                    <a:p>
                      <a:pPr algn="ctr">
                        <a:lnSpc>
                          <a:spcPts val="2800"/>
                        </a:lnSpc>
                        <a:buNone/>
                      </a:pPr>
                      <a:r>
                        <a:t>Saurav Santhosh (25BAD104)</a:t>
                      </a:r>
                      <a:endParaRPr sz="1100"/>
                    </a:p>
                  </a:txBody>
                  <a:tcPr marL="190500" marR="190500" marT="190500" marB="190500" anchor="ctr">
                    <a:lnL w="38100" cmpd="sng">
                      <a:solidFill>
                        <a:srgbClr val="000000"/>
                      </a:solidFill>
                      <a:prstDash val="solid"/>
                    </a:lnL>
                    <a:lnR w="38100" cmpd="sng">
                      <a:solidFill>
                        <a:srgbClr val="000000"/>
                      </a:solidFill>
                      <a:prstDash val="solid"/>
                    </a:lnR>
                    <a:lnT w="38100" cmpd="sng">
                      <a:solidFill>
                        <a:srgbClr val="000000"/>
                      </a:solidFill>
                      <a:prstDash val="solid"/>
                    </a:lnT>
                    <a:lnB w="3810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00"/>
                        </a:lnSpc>
                        <a:buNone/>
                      </a:pPr>
                      <a:r>
                        <a:t>Data analysis: comparisons and evidence checks</a:t>
                      </a:r>
                      <a:endParaRPr sz="1100"/>
                    </a:p>
                  </a:txBody>
                  <a:tcPr marL="190500" marR="190500" marT="190500" marB="190500" anchor="ctr">
                    <a:lnL w="38100" cmpd="sng">
                      <a:solidFill>
                        <a:srgbClr val="000000"/>
                      </a:solidFill>
                      <a:prstDash val="solid"/>
                    </a:lnL>
                    <a:lnR w="38100" cmpd="sng">
                      <a:solidFill>
                        <a:srgbClr val="000000"/>
                      </a:solidFill>
                      <a:prstDash val="solid"/>
                    </a:lnR>
                    <a:lnT w="38100" cmpd="sng">
                      <a:solidFill>
                        <a:srgbClr val="000000"/>
                      </a:solidFill>
                      <a:prstDash val="solid"/>
                    </a:lnT>
                    <a:lnB w="3810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1002938">
                <a:tc>
                  <a:txBody>
                    <a:bodyPr/>
                    <a:lstStyle/>
                    <a:p>
                      <a:pPr algn="ctr">
                        <a:lnSpc>
                          <a:spcPts val="2800"/>
                        </a:lnSpc>
                        <a:buNone/>
                      </a:pPr>
                      <a:r>
                        <a:t>Sinan Ubaid (25BAD107)</a:t>
                      </a:r>
                      <a:endParaRPr sz="1100"/>
                    </a:p>
                  </a:txBody>
                  <a:tcPr marL="190500" marR="190500" marT="190500" marB="190500" anchor="ctr">
                    <a:lnL w="38100" cmpd="sng">
                      <a:solidFill>
                        <a:srgbClr val="000000"/>
                      </a:solidFill>
                      <a:prstDash val="solid"/>
                    </a:lnL>
                    <a:lnR w="38100" cmpd="sng">
                      <a:solidFill>
                        <a:srgbClr val="000000"/>
                      </a:solidFill>
                      <a:prstDash val="solid"/>
                    </a:lnR>
                    <a:lnT w="38100" cmpd="sng">
                      <a:solidFill>
                        <a:srgbClr val="000000"/>
                      </a:solidFill>
                      <a:prstDash val="solid"/>
                    </a:lnT>
                    <a:lnB w="3810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00"/>
                        </a:lnSpc>
                        <a:buNone/>
                      </a:pPr>
                      <a:r>
                        <a:t>Visualization: EDA charts and interpretation</a:t>
                      </a:r>
                      <a:endParaRPr sz="1100"/>
                    </a:p>
                  </a:txBody>
                  <a:tcPr marL="190500" marR="190500" marT="190500" marB="190500" anchor="ctr">
                    <a:lnL w="38100" cmpd="sng">
                      <a:solidFill>
                        <a:srgbClr val="000000"/>
                      </a:solidFill>
                      <a:prstDash val="solid"/>
                    </a:lnL>
                    <a:lnR w="38100" cmpd="sng">
                      <a:solidFill>
                        <a:srgbClr val="000000"/>
                      </a:solidFill>
                      <a:prstDash val="solid"/>
                    </a:lnR>
                    <a:lnT w="38100" cmpd="sng">
                      <a:solidFill>
                        <a:srgbClr val="000000"/>
                      </a:solidFill>
                      <a:prstDash val="solid"/>
                    </a:lnT>
                    <a:lnB w="3810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975272">
                <a:tc>
                  <a:txBody>
                    <a:bodyPr/>
                    <a:lstStyle/>
                    <a:p>
                      <a:pPr algn="ctr">
                        <a:lnSpc>
                          <a:spcPts val="2800"/>
                        </a:lnSpc>
                        <a:buNone/>
                      </a:pPr>
                      <a:r>
                        <a:t>Nishanth (25BAD070)</a:t>
                      </a:r>
                      <a:endParaRPr sz="1100"/>
                    </a:p>
                  </a:txBody>
                  <a:tcPr marL="190500" marR="190500" marT="190500" marB="190500" anchor="ctr">
                    <a:lnL w="38100" cmpd="sng">
                      <a:solidFill>
                        <a:srgbClr val="000000"/>
                      </a:solidFill>
                      <a:prstDash val="solid"/>
                    </a:lnL>
                    <a:lnR w="38100" cmpd="sng">
                      <a:solidFill>
                        <a:srgbClr val="000000"/>
                      </a:solidFill>
                      <a:prstDash val="solid"/>
                    </a:lnR>
                    <a:lnT w="38100" cmpd="sng">
                      <a:solidFill>
                        <a:srgbClr val="000000"/>
                      </a:solidFill>
                      <a:prstDash val="solid"/>
                    </a:lnT>
                    <a:lnB w="3810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00"/>
                        </a:lnSpc>
                        <a:buNone/>
                      </a:pPr>
                      <a:r>
                        <a:t>Lead / storyteller: documentation and review narrative</a:t>
                      </a:r>
                      <a:endParaRPr sz="1100"/>
                    </a:p>
                  </a:txBody>
                  <a:tcPr marL="190500" marR="190500" marT="190500" marB="190500" anchor="ctr">
                    <a:lnL w="38100" cmpd="sng">
                      <a:solidFill>
                        <a:srgbClr val="000000"/>
                      </a:solidFill>
                      <a:prstDash val="solid"/>
                    </a:lnL>
                    <a:lnR w="38100" cmpd="sng">
                      <a:solidFill>
                        <a:srgbClr val="000000"/>
                      </a:solidFill>
                      <a:prstDash val="solid"/>
                    </a:lnR>
                    <a:lnT w="38100" cmpd="sng">
                      <a:solidFill>
                        <a:srgbClr val="000000"/>
                      </a:solidFill>
                      <a:prstDash val="solid"/>
                    </a:lnT>
                    <a:lnB w="3810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  <a:tr h="1046940">
                <a:tc>
                  <a:txBody>
                    <a:bodyPr/>
                    <a:lstStyle/>
                    <a:p>
                      <a:pPr algn="ctr">
                        <a:lnSpc>
                          <a:spcPts val="2800"/>
                        </a:lnSpc>
                        <a:buNone/>
                      </a:pPr>
                      <a:r>
                        <a:t>Team No. 3 (shared)</a:t>
                      </a:r>
                      <a:endParaRPr sz="1100"/>
                    </a:p>
                  </a:txBody>
                  <a:tcPr marL="190500" marR="190500" marT="190500" marB="190500" anchor="ctr">
                    <a:lnL w="38100" cmpd="sng">
                      <a:solidFill>
                        <a:srgbClr val="000000"/>
                      </a:solidFill>
                      <a:prstDash val="solid"/>
                    </a:lnL>
                    <a:lnR w="38100" cmpd="sng">
                      <a:solidFill>
                        <a:srgbClr val="000000"/>
                      </a:solidFill>
                      <a:prstDash val="solid"/>
                    </a:lnR>
                    <a:lnT w="38100" cmpd="sng">
                      <a:solidFill>
                        <a:srgbClr val="000000"/>
                      </a:solidFill>
                      <a:prstDash val="solid"/>
                    </a:lnT>
                    <a:lnB w="3810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00"/>
                        </a:lnSpc>
                        <a:buNone/>
                      </a:pPr>
                      <a:r>
                        <a:t>Notebook review, testing and presentation</a:t>
                      </a:r>
                      <a:endParaRPr sz="1100"/>
                    </a:p>
                  </a:txBody>
                  <a:tcPr marL="190500" marR="190500" marT="190500" marB="190500" anchor="ctr">
                    <a:lnL w="38100" cmpd="sng">
                      <a:solidFill>
                        <a:srgbClr val="000000"/>
                      </a:solidFill>
                      <a:prstDash val="solid"/>
                    </a:lnL>
                    <a:lnR w="38100" cmpd="sng">
                      <a:solidFill>
                        <a:srgbClr val="000000"/>
                      </a:solidFill>
                      <a:prstDash val="solid"/>
                    </a:lnR>
                    <a:lnT w="38100" cmpd="sng">
                      <a:solidFill>
                        <a:srgbClr val="000000"/>
                      </a:solidFill>
                      <a:prstDash val="solid"/>
                    </a:lnT>
                    <a:lnB w="38100" cmpd="sng">
                      <a:solidFill>
                        <a:srgbClr val="000000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3CD1D617-80FB-45A3-9646-F3E0682BB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65" y="985640"/>
            <a:ext cx="16178870" cy="106952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8250"/>
              </a:lnSpc>
              <a:spcBef>
                <a:spcPct val="0"/>
              </a:spcBef>
              <a:buNone/>
            </a:pPr>
            <a:r>
              <a:rPr sz="5892" b="1">
                <a:solidFill>
                  <a:srgbClr val="FFFFFF"/>
                </a:solidFill>
                <a:latin typeface="Poppins Bold"/>
                <a:ea typeface="Poppins Bold"/>
                <a:cs typeface="Poppins Bold"/>
              </a:rPr>
              <a:t>Roles &amp; Responsibilities</a:t>
            </a:r>
          </a:p>
        </p:txBody>
      </p:sp>
    </p:spTree>
    <p:extLst>
      <p:ext uri="{BB962C8B-B14F-4D97-AF65-F5344CB8AC3E}">
        <p14:creationId xmlns:p14="http://schemas.microsoft.com/office/powerpoint/2010/main" val="44262930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16CCF266-2BA6-44BF-A75F-2D42B3961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576841"/>
            <a:ext cx="18288000" cy="2058569"/>
          </a:xfrm>
          <a:custGeom xmlns:a="http://schemas.openxmlformats.org/drawingml/2006/main">
            <a:rect l="l" t="t" r="r" b="b"/>
            <a:pathLst>
              <a:path w="3738189" h="420785">
                <a:moveTo>
                  <a:pt x="3534989" y="0"/>
                </a:moveTo>
                <a:lnTo>
                  <a:pt x="0" y="0"/>
                </a:lnTo>
                <a:lnTo>
                  <a:pt x="0" y="420785"/>
                </a:lnTo>
                <a:lnTo>
                  <a:pt x="3534989" y="420785"/>
                </a:lnTo>
                <a:lnTo>
                  <a:pt x="3738189" y="210393"/>
                </a:lnTo>
                <a:lnTo>
                  <a:pt x="3534989" y="0"/>
                </a:lnTo>
                <a:close/>
              </a:path>
            </a:pathLst>
          </a:custGeom>
          <a:solidFill xmlns:a="http://schemas.openxmlformats.org/drawingml/2006/main">
            <a:srgbClr val="112D63"/>
          </a:solidFill>
          <a:ln xmlns:a="http://schemas.openxmlformats.org/drawingml/2006/main" w="19050">
            <a:solidFill>
              <a:srgbClr val="112D6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53952DBF-2192-4AAD-AB63-E01861A6D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250653"/>
            <a:ext cx="17728820" cy="23847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800"/>
              </a:lnSpc>
              <a:buNone/>
            </a:pPr>
            <a:endParaRPr/>
          </a:p>
        </p:txBody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CA4635CC-F6BE-4F33-83FF-33A756371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" y="3093509"/>
            <a:ext cx="2249599" cy="2229148"/>
          </a:xfrm>
          <a:custGeom xmlns:a="http://schemas.openxmlformats.org/drawingml/2006/main">
            <a:rect l="l" t="t" r="r" b="b"/>
            <a:pathLst>
              <a:path w="2249599" h="2229148">
                <a:moveTo>
                  <a:pt x="0" y="0"/>
                </a:moveTo>
                <a:lnTo>
                  <a:pt x="2249598" y="0"/>
                </a:lnTo>
                <a:lnTo>
                  <a:pt x="2249598" y="2229148"/>
                </a:lnTo>
                <a:lnTo>
                  <a:pt x="0" y="2229148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9b4f9d4df5448a2">
              <a:extLst>
                <a:ext uri="{96DAC541-7B7A-43D3-8B79-37D633B846F1}">
                  <asvg:svgBlip xmlns:asvg="http://schemas.microsoft.com/office/drawing/2016/SVG/main" r:embed="R29195a56dcda40dc"/>
                </a:ext>
              </a:extLst>
            </a:blip>
            <a:stretch>
              <a:fillRect l="0" t="0" r="0" b="0"/>
            </a:stretch>
          </a:blip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709BCF04-BB9F-40AC-9E77-DBBD33794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3883" y="2998259"/>
            <a:ext cx="9568085" cy="321881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ts val="4235"/>
              </a:lnSpc>
              <a:buNone/>
            </a:pPr>
            <a:r>
              <a:rPr sz="3025" i="1">
                <a:solidFill>
                  <a:srgbClr val="545454"/>
                </a:solidFill>
                <a:latin typeface="Poppins Italics"/>
                <a:ea typeface="Poppins Italics"/>
                <a:cs typeface="Poppins Italics"/>
              </a:rPr>
              <a:t/>
            </a:r>
          </a:p>
        </p:txBody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0B474481-0702-4AAE-9CCF-7FC38D9BF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65" y="985640"/>
            <a:ext cx="16178870" cy="106952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8250"/>
              </a:lnSpc>
              <a:spcBef>
                <a:spcPct val="0"/>
              </a:spcBef>
              <a:buNone/>
            </a:pPr>
            <a:r>
              <a:rPr sz="5892" b="1">
                <a:solidFill>
                  <a:srgbClr val="FFFFFF"/>
                </a:solidFill>
                <a:latin typeface="Poppins Bold"/>
                <a:ea typeface="Poppins Bold"/>
                <a:cs typeface="Poppins Bold"/>
              </a:rPr>
              <a:t> Challenges Faced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81CCB2-6153-40C4-A2FB-54E550868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30517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D87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0A095F-B011-4BE5-881A-6232E589A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190875"/>
            <a:ext cx="136017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1,897 distance and 2,381 tenure values required imputation after deduplication.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D4557A-0D99-4B4E-9212-206263DB3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7625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D87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DFA230-493B-491F-AFF8-2A558A61C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4648200"/>
            <a:ext cx="136017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17,824 records imply starting age below 14; tenure fields often disagree under one interpretation.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29EE66-634F-453D-AD10-3C170D53B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621982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D87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606BCE-8B51-40D1-9DFA-08D339D34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6105525"/>
            <a:ext cx="136017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The dataset does not define distance units, sampling period or label time window.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23750F-0987-4431-95F9-0FAE02F9C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76771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D87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566180-AD50-4694-AF2E-4AE9B33F3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7562850"/>
            <a:ext cx="136017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Outliers and category patterns needed careful interpretation; left/stayed is fairly balanced.</a:t>
            </a:r>
          </a:p>
        </p:txBody>
      </p:sp>
    </p:spTree>
    <p:extLst>
      <p:ext uri="{BB962C8B-B14F-4D97-AF65-F5344CB8AC3E}">
        <p14:creationId xmlns:p14="http://schemas.microsoft.com/office/powerpoint/2010/main" val="201892442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3DDD97ED-463C-4BAA-88E4-A6462E421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576841"/>
            <a:ext cx="18288000" cy="2058569"/>
          </a:xfrm>
          <a:custGeom xmlns:a="http://schemas.openxmlformats.org/drawingml/2006/main">
            <a:rect l="l" t="t" r="r" b="b"/>
            <a:pathLst>
              <a:path w="3738189" h="420785">
                <a:moveTo>
                  <a:pt x="3534989" y="0"/>
                </a:moveTo>
                <a:lnTo>
                  <a:pt x="0" y="0"/>
                </a:lnTo>
                <a:lnTo>
                  <a:pt x="0" y="420785"/>
                </a:lnTo>
                <a:lnTo>
                  <a:pt x="3534989" y="420785"/>
                </a:lnTo>
                <a:lnTo>
                  <a:pt x="3738189" y="210393"/>
                </a:lnTo>
                <a:lnTo>
                  <a:pt x="3534989" y="0"/>
                </a:lnTo>
                <a:close/>
              </a:path>
            </a:pathLst>
          </a:custGeom>
          <a:solidFill xmlns:a="http://schemas.openxmlformats.org/drawingml/2006/main">
            <a:srgbClr val="112D63"/>
          </a:solidFill>
          <a:ln xmlns:a="http://schemas.openxmlformats.org/drawingml/2006/main" w="19050">
            <a:solidFill>
              <a:srgbClr val="112D6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D31BBFA3-9D48-4886-B1EE-7BDC8D27B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250653"/>
            <a:ext cx="17728820" cy="23847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800"/>
              </a:lnSpc>
              <a:buNone/>
            </a:pPr>
            <a:endParaRPr/>
          </a:p>
        </p:txBody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FB16DC9F-2CDF-4795-B94C-42860E49C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02" y="3093509"/>
            <a:ext cx="2186679" cy="2434562"/>
          </a:xfrm>
          <a:custGeom xmlns:a="http://schemas.openxmlformats.org/drawingml/2006/main">
            <a:rect l="l" t="t" r="r" b="b"/>
            <a:pathLst>
              <a:path w="2186679" h="2434562">
                <a:moveTo>
                  <a:pt x="0" y="0"/>
                </a:moveTo>
                <a:lnTo>
                  <a:pt x="2186679" y="0"/>
                </a:lnTo>
                <a:lnTo>
                  <a:pt x="2186679" y="2434562"/>
                </a:lnTo>
                <a:lnTo>
                  <a:pt x="0" y="2434562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f825c0ef26134221">
              <a:extLst>
                <a:ext uri="{96DAC541-7B7A-43D3-8B79-37D633B846F1}">
                  <asvg:svgBlip xmlns:asvg="http://schemas.microsoft.com/office/drawing/2016/SVG/main" r:embed="R46acb274a6f3425e"/>
                </a:ext>
              </a:extLst>
            </a:blip>
            <a:stretch>
              <a:fillRect l="0" t="0" r="0" b="0"/>
            </a:stretch>
          </a:blip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E8AE9FE6-FEC3-48D2-A2AA-C943AF6F7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65" y="985640"/>
            <a:ext cx="16178870" cy="106952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8250"/>
              </a:lnSpc>
              <a:spcBef>
                <a:spcPct val="0"/>
              </a:spcBef>
              <a:buNone/>
            </a:pPr>
            <a:r>
              <a:rPr sz="5892" b="1">
                <a:solidFill>
                  <a:srgbClr val="FFFFFF"/>
                </a:solidFill>
                <a:latin typeface="Poppins Bold"/>
                <a:ea typeface="Poppins Bold"/>
                <a:cs typeface="Poppins Bold"/>
              </a:rPr>
              <a:t>Future Work &amp; Conclusion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3A0A27-60F9-470A-8D52-B7EBAC497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238500"/>
            <a:ext cx="5905500" cy="276225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8DDCB6-CF43-471C-822F-65727E330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238500"/>
            <a:ext cx="85725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D87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BD7E81-BBE2-4853-A11E-B8E08F5AD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409950"/>
            <a:ext cx="5448300" cy="2419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DELIVERED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475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Six dashboard chapters</a:t>
            </a:r>
          </a:p>
          <a:p xmlns:a="http://schemas.openxmlformats.org/drawingml/2006/main">
            <a:pPr algn="l">
              <a:defRPr sz="2475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Nine executed notebooks</a:t>
            </a:r>
          </a:p>
          <a:p xmlns:a="http://schemas.openxmlformats.org/drawingml/2006/main">
            <a:pPr algn="l">
              <a:defRPr sz="2475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Nine-page business insight report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75CDC0-E7A0-4008-B11D-D523E5ADA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238500"/>
            <a:ext cx="5905500" cy="276225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951D2E-2993-4767-9EAB-517716D1F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238500"/>
            <a:ext cx="85725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D87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C9708F-A558-419D-99D6-FACE7114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409950"/>
            <a:ext cx="5448300" cy="2419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75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NEXT IN PRACTICE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475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Clarify source definitions; investigate working conditions; measure a prospective pilot.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A7C97D-D8AD-497C-A22C-3A5B17477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858000"/>
            <a:ext cx="1238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2D63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112D63"/>
                </a:solidFill>
                <a:latin typeface="Calibri"/>
                <a:ea typeface="Calibri"/>
                <a:cs typeface="Calibri"/>
              </a:rPr>
              <a:t>A reproducible evidence workflow supports careful questions and a clear visual story.</a:t>
            </a:r>
          </a:p>
        </p:txBody>
      </p:sp>
    </p:spTree>
    <p:extLst>
      <p:ext uri="{BB962C8B-B14F-4D97-AF65-F5344CB8AC3E}">
        <p14:creationId xmlns:p14="http://schemas.microsoft.com/office/powerpoint/2010/main" val="202493035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7A3204C4-A59A-43A8-BB85-BB977248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576841"/>
            <a:ext cx="18288000" cy="2058569"/>
          </a:xfrm>
          <a:custGeom xmlns:a="http://schemas.openxmlformats.org/drawingml/2006/main">
            <a:rect l="l" t="t" r="r" b="b"/>
            <a:pathLst>
              <a:path w="3738189" h="420785">
                <a:moveTo>
                  <a:pt x="3534989" y="0"/>
                </a:moveTo>
                <a:lnTo>
                  <a:pt x="0" y="0"/>
                </a:lnTo>
                <a:lnTo>
                  <a:pt x="0" y="420785"/>
                </a:lnTo>
                <a:lnTo>
                  <a:pt x="3534989" y="420785"/>
                </a:lnTo>
                <a:lnTo>
                  <a:pt x="3738189" y="210393"/>
                </a:lnTo>
                <a:lnTo>
                  <a:pt x="3534989" y="0"/>
                </a:lnTo>
                <a:close/>
              </a:path>
            </a:pathLst>
          </a:custGeom>
          <a:solidFill xmlns:a="http://schemas.openxmlformats.org/drawingml/2006/main">
            <a:srgbClr val="112D63"/>
          </a:solidFill>
          <a:ln xmlns:a="http://schemas.openxmlformats.org/drawingml/2006/main" w="19050">
            <a:solidFill>
              <a:srgbClr val="112D6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551D4260-09FB-4D51-B6EC-1720B3E5B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250653"/>
            <a:ext cx="17728820" cy="23847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/>
          <a:p xmlns:a="http://schemas.openxmlformats.org/drawingml/2006/main">
            <a:pPr algn="ctr">
              <a:lnSpc>
                <a:spcPts val="2800"/>
              </a:lnSpc>
              <a:buNone/>
            </a:pPr>
            <a:endParaRPr/>
          </a:p>
        </p:txBody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EF40686F-B33D-4F56-BAE9-FDE7BB249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565" y="985640"/>
            <a:ext cx="16178870" cy="106952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ts val="8250"/>
              </a:lnSpc>
              <a:spcBef>
                <a:spcPct val="0"/>
              </a:spcBef>
              <a:buNone/>
            </a:pPr>
            <a:r>
              <a:rPr sz="5892" b="1">
                <a:solidFill>
                  <a:srgbClr val="FFFFFF"/>
                </a:solidFill>
                <a:latin typeface="Poppins Bold"/>
                <a:ea typeface="Poppins Bold"/>
                <a:cs typeface="Poppins Bold"/>
              </a:rPr>
              <a:t>References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99DA1C-1122-49D3-9E4B-F44FB46C9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20992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D87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74B553-F088-4D09-9B1B-A75DCDFED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095625"/>
            <a:ext cx="150304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Dataset: Nikhil Bhosle, “Employee Attrition Uncleaned Dataset,” Kaggle.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5D1A13-6533-47CA-952D-B0B1D39CE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5910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D87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C0AF4A-1BEC-44AC-8993-338605948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476750"/>
            <a:ext cx="150304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Course brief: DSV Rule Book (24ADI204), supplied by faculty.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64D39C-F203-4826-BFB5-819E4DF59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97217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D87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922C2F-008C-4182-86D4-5AF275BE9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857875"/>
            <a:ext cx="150304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Project source: GitHub repository / DSV_PROJECT / Weeks 1–9 notebooks, dashboard and reports.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1F1274-002A-471E-9EE2-868E2F5D3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73533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D87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6CCFA5-A421-4BA8-8D3E-8467207CD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7239000"/>
            <a:ext cx="150304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9325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93254"/>
                </a:solidFill>
                <a:latin typeface="Calibri"/>
                <a:ea typeface="Calibri"/>
                <a:cs typeface="Calibri"/>
              </a:rPr>
              <a:t>Methods: Newcombe intervals; scikit-learn transforms/PCA; Streamlit/Plotly (see report).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0AB055-5CA5-4E6D-BB9A-68F73916E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8801100"/>
            <a:ext cx="1381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87D87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087D87"/>
                </a:solidFill>
                <a:latin typeface="Calibri"/>
                <a:ea typeface="Calibri"/>
                <a:cs typeface="Calibri"/>
              </a:rPr>
              <a:t>Dataset: kaggle.com/datasets/nikhilbhosle/employee-attrition-uncleaned-dataset</a:t>
            </a:r>
          </a:p>
        </p:txBody>
      </p:sp>
    </p:spTree>
    <p:extLst>
      <p:ext uri="{BB962C8B-B14F-4D97-AF65-F5344CB8AC3E}">
        <p14:creationId xmlns:p14="http://schemas.microsoft.com/office/powerpoint/2010/main" val="187098185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2026-09-26T06:02:19.9150000Z</dcterms:created>
  <dcterms:modified xsi:type="dcterms:W3CDTF">2026-09-26T06:02:19.9150000Z</dcterms:modified>
</coreProperties>
</file>