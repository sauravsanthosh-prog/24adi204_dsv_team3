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7a3a098bec4329" /><Relationship Type="http://schemas.openxmlformats.org/officeDocument/2006/relationships/extended-properties" Target="/docProps/app.xml" Id="R04da94b728a04c62" /><Relationship Type="http://schemas.openxmlformats.org/officeDocument/2006/relationships/officeDocument" Target="/ppt/presentation.xml" Id="R9881f4fa840d4453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6d81ad1d45c4264"/>
  </p:sldMasterIdLst>
  <p:notesMasterIdLst>
    <p:notesMasterId xmlns:r="http://schemas.openxmlformats.org/officeDocument/2006/relationships" r:id="Raabde2584dd94326"/>
  </p:notesMasterIdLst>
  <p:sldIdLst>
    <p:sldId xmlns:r="http://schemas.openxmlformats.org/officeDocument/2006/relationships" id="256" r:id="Rf727585d9a634049"/>
    <p:sldId xmlns:r="http://schemas.openxmlformats.org/officeDocument/2006/relationships" id="257" r:id="R396c30949dd848d9"/>
    <p:sldId xmlns:r="http://schemas.openxmlformats.org/officeDocument/2006/relationships" id="258" r:id="R9bf9240aa1654d49"/>
    <p:sldId xmlns:r="http://schemas.openxmlformats.org/officeDocument/2006/relationships" id="259" r:id="R9ad120a2a47c4bf2"/>
    <p:sldId xmlns:r="http://schemas.openxmlformats.org/officeDocument/2006/relationships" id="260" r:id="Re5c2bd3416854edd"/>
    <p:sldId xmlns:r="http://schemas.openxmlformats.org/officeDocument/2006/relationships" id="261" r:id="R9030076b808c4aa6"/>
    <p:sldId xmlns:r="http://schemas.openxmlformats.org/officeDocument/2006/relationships" id="262" r:id="Ree9eca0fc8f44903"/>
    <p:sldId xmlns:r="http://schemas.openxmlformats.org/officeDocument/2006/relationships" id="263" r:id="R28321d2c38c54b15"/>
    <p:sldId xmlns:r="http://schemas.openxmlformats.org/officeDocument/2006/relationships" id="264" r:id="Re293e6ca131548d1"/>
    <p:sldId xmlns:r="http://schemas.openxmlformats.org/officeDocument/2006/relationships" id="265" r:id="R23d31ffd0d044c1c"/>
    <p:sldId xmlns:r="http://schemas.openxmlformats.org/officeDocument/2006/relationships" id="266" r:id="Rfbd78f5066564433"/>
    <p:sldId xmlns:r="http://schemas.openxmlformats.org/officeDocument/2006/relationships" id="267" r:id="R354ac461fd8e4e08"/>
    <p:sldId xmlns:r="http://schemas.openxmlformats.org/officeDocument/2006/relationships" id="268" r:id="Raeab5b9824cd4c94"/>
  </p:sldIdLst>
  <p:sldSz cx="18288000" cy="10287000"/>
  <p:notesSz cx="6858000" cy="9144000"/>
  <p:embeddedFontLst>
    <p:embeddedFont>
      <p:font typeface="Poppins"/>
      <p:regular xmlns:r="http://schemas.openxmlformats.org/officeDocument/2006/relationships" r:id="R9b80f257e65f4406"/>
    </p:embeddedFont>
    <p:embeddedFont>
      <p:font typeface="Poppins Bold"/>
      <p:regular xmlns:r="http://schemas.openxmlformats.org/officeDocument/2006/relationships" r:id="Re9aac4249be74876"/>
      <p:bold xmlns:r="http://schemas.openxmlformats.org/officeDocument/2006/relationships" r:id="Rd32e3ce41e754dc1"/>
    </p:embeddedFont>
    <p:embeddedFont>
      <p:font typeface="Poppins Bold Italics"/>
      <p:regular xmlns:r="http://schemas.openxmlformats.org/officeDocument/2006/relationships" r:id="R6e785a30082043f0"/>
    </p:embeddedFont>
    <p:embeddedFont>
      <p:font typeface="Poppins Italics"/>
      <p:regular xmlns:r="http://schemas.openxmlformats.org/officeDocument/2006/relationships" r:id="R841e3afcd7d34370"/>
    </p:embeddedFont>
    <p:embeddedFont>
      <p:font typeface="Times New Roman Bold"/>
      <p:bold xmlns:r="http://schemas.openxmlformats.org/officeDocument/2006/relationships" r:id="R4cf0361d921e452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3eea71370543ad" /><Relationship Type="http://schemas.openxmlformats.org/officeDocument/2006/relationships/slideMaster" Target="/ppt/slideMasters/slideMaster1.xml" Id="R06d81ad1d45c4264" /><Relationship Type="http://schemas.openxmlformats.org/officeDocument/2006/relationships/notesMaster" Target="/ppt/notesMasters/notesMaster1.xml" Id="Raabde2584dd94326" /><Relationship Type="http://schemas.openxmlformats.org/officeDocument/2006/relationships/presProps" Target="/ppt/presProps.xml" Id="Re86f6be0392e4759" /><Relationship Type="http://schemas.openxmlformats.org/officeDocument/2006/relationships/viewProps" Target="/ppt/viewProps.xml" Id="R18786a986cc64acf" /><Relationship Type="http://schemas.openxmlformats.org/officeDocument/2006/relationships/tableStyles" Target="/ppt/tableStyles.xml" Id="Refa5cb5c626e4da7" /><Relationship Type="http://schemas.openxmlformats.org/officeDocument/2006/relationships/font" Target="/ppt/fonts/font.dat" Id="R9b80f257e65f4406" /><Relationship Type="http://schemas.openxmlformats.org/officeDocument/2006/relationships/font" Target="/ppt/fonts/font2.dat" Id="Re9aac4249be74876" /><Relationship Type="http://schemas.openxmlformats.org/officeDocument/2006/relationships/font" Target="/ppt/fonts/font3.dat" Id="Rd32e3ce41e754dc1" /><Relationship Type="http://schemas.openxmlformats.org/officeDocument/2006/relationships/font" Target="/ppt/fonts/font4.dat" Id="R6e785a30082043f0" /><Relationship Type="http://schemas.openxmlformats.org/officeDocument/2006/relationships/font" Target="/ppt/fonts/font5.dat" Id="R841e3afcd7d34370" /><Relationship Type="http://schemas.openxmlformats.org/officeDocument/2006/relationships/font" Target="/ppt/fonts/font6.dat" Id="R4cf0361d921e4524" /><Relationship Type="http://schemas.openxmlformats.org/officeDocument/2006/relationships/slide" Target="/ppt/slides/slide1.xml" Id="Rf727585d9a634049" /><Relationship Type="http://schemas.openxmlformats.org/officeDocument/2006/relationships/slide" Target="/ppt/slides/slide2.xml" Id="R396c30949dd848d9" /><Relationship Type="http://schemas.openxmlformats.org/officeDocument/2006/relationships/slide" Target="/ppt/slides/slide3.xml" Id="R9bf9240aa1654d49" /><Relationship Type="http://schemas.openxmlformats.org/officeDocument/2006/relationships/slide" Target="/ppt/slides/slide4.xml" Id="R9ad120a2a47c4bf2" /><Relationship Type="http://schemas.openxmlformats.org/officeDocument/2006/relationships/slide" Target="/ppt/slides/slide5.xml" Id="Re5c2bd3416854edd" /><Relationship Type="http://schemas.openxmlformats.org/officeDocument/2006/relationships/slide" Target="/ppt/slides/slide6.xml" Id="R9030076b808c4aa6" /><Relationship Type="http://schemas.openxmlformats.org/officeDocument/2006/relationships/slide" Target="/ppt/slides/slide7.xml" Id="Ree9eca0fc8f44903" /><Relationship Type="http://schemas.openxmlformats.org/officeDocument/2006/relationships/slide" Target="/ppt/slides/slide8.xml" Id="R28321d2c38c54b15" /><Relationship Type="http://schemas.openxmlformats.org/officeDocument/2006/relationships/slide" Target="/ppt/slides/slide9.xml" Id="Re293e6ca131548d1" /><Relationship Type="http://schemas.openxmlformats.org/officeDocument/2006/relationships/slide" Target="/ppt/slides/slide10.xml" Id="R23d31ffd0d044c1c" /><Relationship Type="http://schemas.openxmlformats.org/officeDocument/2006/relationships/slide" Target="/ppt/slides/slide11.xml" Id="Rfbd78f5066564433" /><Relationship Type="http://schemas.openxmlformats.org/officeDocument/2006/relationships/slide" Target="/ppt/slides/slide12.xml" Id="R354ac461fd8e4e08" /><Relationship Type="http://schemas.openxmlformats.org/officeDocument/2006/relationships/slide" Target="/ppt/slides/slide13.xml" Id="Raeab5b9824cd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188b906fec41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39fc2cfcd24896" /><Relationship Type="http://schemas.openxmlformats.org/officeDocument/2006/relationships/notesMaster" Target="/ppt/notesMasters/notesMaster1.xml" Id="R721943d5e0d346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75c0f0958e48ef" /><Relationship Type="http://schemas.openxmlformats.org/officeDocument/2006/relationships/notesMaster" Target="/ppt/notesMasters/notesMaster1.xml" Id="R8daa9b33e3c14e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803e1ca2c64962" /><Relationship Type="http://schemas.openxmlformats.org/officeDocument/2006/relationships/notesMaster" Target="/ppt/notesMasters/notesMaster1.xml" Id="R7d6098f6344a41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017f3fa99d4229" /><Relationship Type="http://schemas.openxmlformats.org/officeDocument/2006/relationships/notesMaster" Target="/ppt/notesMasters/notesMaster1.xml" Id="Rcc15eb9cd29047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1c6e0aa1604b6e" /><Relationship Type="http://schemas.openxmlformats.org/officeDocument/2006/relationships/notesMaster" Target="/ppt/notesMasters/notesMaster1.xml" Id="R6cbb670ea46949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c0828183f84073" /><Relationship Type="http://schemas.openxmlformats.org/officeDocument/2006/relationships/notesMaster" Target="/ppt/notesMasters/notesMaster1.xml" Id="R42c41f92f58a4a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42c9d104148f3" /><Relationship Type="http://schemas.openxmlformats.org/officeDocument/2006/relationships/notesMaster" Target="/ppt/notesMasters/notesMaster1.xml" Id="R9471edf34d464c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8f25e34232427f" /><Relationship Type="http://schemas.openxmlformats.org/officeDocument/2006/relationships/notesMaster" Target="/ppt/notesMasters/notesMaster1.xml" Id="R3c0b1e140d414d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e1a8cec8df437e" /><Relationship Type="http://schemas.openxmlformats.org/officeDocument/2006/relationships/notesMaster" Target="/ppt/notesMasters/notesMaster1.xml" Id="Rbb6d6de72ba146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8df830b4d24f40" /><Relationship Type="http://schemas.openxmlformats.org/officeDocument/2006/relationships/notesMaster" Target="/ppt/notesMasters/notesMaster1.xml" Id="R47a90114cd1a4e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fc46ac13d8489d" /><Relationship Type="http://schemas.openxmlformats.org/officeDocument/2006/relationships/notesMaster" Target="/ppt/notesMasters/notesMaster1.xml" Id="R387ef45966dc4f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0ac936a3cb4f92" /><Relationship Type="http://schemas.openxmlformats.org/officeDocument/2006/relationships/notesMaster" Target="/ppt/notesMasters/notesMaster1.xml" Id="Rdd387fc7d3c146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174bbb1dbf4303" /><Relationship Type="http://schemas.openxmlformats.org/officeDocument/2006/relationships/notesMaster" Target="/ppt/notesMasters/notesMaster1.xml" Id="Rfe520ccd62d3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No. 4. Completed Weeks 1–9 code and review materials. Actual expo and viva attendance remain team activities. PCA is unsupervised; no attrition classifier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aim is descriptive evidence, not causal inference or individual employee prediction. Dataset source: https://www.kaggle.com/datasets/nikhilbhosle/employee-attrition-uncleaned-dataset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Nine executed notebooks cover Weeks 1–9. Fourteen automated tests passed. The final report and dashboard are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code and review materials are delivered. Physical presentation, peer review and viva must be completed by the team. The gate is a descriptive project heuristic.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https://www.kaggle.com/datasets/nikhilbhosle/employee-attrition-uncleaned-dataset. Source sampling process, time period and real/synthetic status are unverified. Clean base has 74,498 unique IDs.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shared scripts build the audit, feature transformations and PCA. The dashboard uses saved analytical reports and a reproducible baseline.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4,325 missing-cell figure is before deduplication; the two imputed-field counts are after deduplication. No missing cells in the cleaned baseline. Outliers were flagged, not removed.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from Reports/Figures/04_evidence_scorecard.png. Differences are percentage points in observed Left share, with 95% intervals. Teal comparisons pass our exploratory heuristic; orange need caution. Associations are not causes.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Yeo–Johnson changes income shape; scaling alone does not. Twenty-four components are the minimum reaching 90% under numeric z-score plus unscaled dummy weighting. All-column standardization needs 30 components. Correlation screening removes zero additional columns. Variance retention is not classifier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Member names and previously stated roles come from the earlier Week 2 team log, confirmed by the user for Team No. 4. Exact allocation of notebook commits should be verified with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17,824 early-start flags and 66,049 tenure-pair disagreements under the same-definition assumption are questions for source clarification, not confirmed errors. Left share 47.48%; do not call this severe class imbalance.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dashboard: Overview, Data audit, Explore groups, Evidence checks, PCA map, Next actions. Show at least five plot types. No measured policy impact or prediction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Kaggle dataset: https://www.kaggle.com/datasets/nikhilbhosle/employee-attrition-uncleaned-dataset</a:t>
            </a:r>
          </a:p>
          <a:p xmlns:a="http://schemas.openxmlformats.org/drawingml/2006/main">
            <a:r>
              <a:t>Project: https://github.com/sauravsanthosh-prog/24ADI204_DSV_Team3/tree/main/DSV_PROJECT</a:t>
            </a:r>
          </a:p>
          <a:p xmlns:a="http://schemas.openxmlformats.org/drawingml/2006/main">
            <a:r>
              <a:t>Methods and novelty documents are in the project Docs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91c42ce0947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41376dc284f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ed9717ebb44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c841ede1349e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1a20110f249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3157ddf704e8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f87dfc0c847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63fa2123941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436f37c3449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0e850037944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a7248005d94b4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22DD95-C02F-4DD6-B988-3DC51835590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B5183C9-71D1-460E-84A9-B4715E17B2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B4010C-EF68-46D7-B87A-DF0A833B2A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351165-F8CC-4C54-9BF1-6118D56E1A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4964A6-0E30-4390-B8B3-B0E855B777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A223BC-3A2F-4290-AF27-BE103665A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994E91-6A0B-495A-B516-D38889B14B2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B527242-8EB5-4E82-9824-1305FD3ADC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EAADC4-FB9B-4DFB-836C-7978654374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B4B21F-E354-4C3C-AEF5-37BDC387E8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EC6E26-4603-479C-AAE1-8B85E5E44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CBA5DC-E29A-494C-8299-A04E4500CD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6DBD3F-44DC-413C-99AD-165322C6AA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234CAA-0AB1-4234-B882-CBE0FB5537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745F11-B6D2-496F-AC7E-2F8A04B42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F2E8C7-1EDA-40D8-A01A-8AB58C11B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42BD34-11C2-4E32-B074-1E1CCE7EAD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93CE509-1BA6-4568-B8FC-560BE182A2F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98B7E0-5A0B-41E6-8881-217D4E6734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EFAC542-1278-4B50-9404-6A6A9771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A4D53D1-7481-4274-853A-8B534BFE45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253B8B-6A9F-4729-BCBD-BB0BD49EF0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7E383F-F560-49CB-9BD1-5E39731C8F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3C2F31A-CFCA-42D3-A1C8-D8DDF858A01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A2FF9CE-4506-4BA7-B01E-F634044410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A02F9D0-5410-4E3F-A89C-524817BA5D8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BBE7A13-97A5-4782-AE24-50B368177B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C07242E-1499-48C2-9623-1113D9B1B5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47A3E1E-B671-4781-BFB6-43BDC65608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596529-0225-4681-96ED-B5776A3B97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CFEE44B-B07B-4A96-89AE-9B34C5047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AAC6BE2-7537-4BEF-9A36-32A765EF77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E2C93B1-AEE4-4145-904D-EACCC6D06D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99C931A-6484-4774-8032-34FC2C945A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A050F6-BF6E-43F9-A135-EA80D9F41C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AE96540-920C-4C20-AA57-EC6CB3D405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8B2180-6D24-4E7F-B4A7-24DB486386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42C4AA-BE3C-4E36-9163-13C601F813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12B7EB6-DB8B-4B3D-BE6E-E686BE5D6F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9147F19-B4CD-47C5-8347-0B178A3268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FF98153-8D4F-46E0-AA4A-88F39A1BFE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1474AF-C582-454E-848D-6785B3DDFB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B942FE-C729-4CA8-B23F-77C4905E2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70A1F56-27D1-41AE-9D25-0F2B866F71C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C42BF4-F878-4E10-B27D-4FDB948C1E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80D908-5D5D-4674-B8D5-A6F778B1AE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E97864-4BED-4918-B40E-2EBE090B5B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765519D-F147-4E7E-AD08-8A9BCC887C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78E895-13B5-4380-84B9-7AF2810AC2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8913F03-76DC-4229-BB6A-9FAFC93CA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A1F457-BB81-426F-8B6B-0F9FD6C2D7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40E154E-610F-44F9-A52D-778DC0851E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33D7A9-6B89-4FED-8339-7ABD9E064E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274E2EF-1544-427E-84AD-1EDD021E5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B18FE1-F241-4BC1-873A-085BE5CF20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1B4648-E155-47E5-8C9E-0D2836F3D5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CE58354-76FC-4566-AF8F-C78D287130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A1372E-BFF7-4EEE-88F2-F69B4F7F64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3c551d51c44623" /><Relationship Type="http://schemas.openxmlformats.org/officeDocument/2006/relationships/slideLayout" Target="/ppt/slideLayouts/slideLayout1.xml" Id="R56be095cfddb4e77" /><Relationship Type="http://schemas.openxmlformats.org/officeDocument/2006/relationships/slideLayout" Target="/ppt/slideLayouts/slideLayout2.xml" Id="R6a1add4c9c594403" /><Relationship Type="http://schemas.openxmlformats.org/officeDocument/2006/relationships/slideLayout" Target="/ppt/slideLayouts/slideLayout3.xml" Id="R53f36a29ed6b449c" /><Relationship Type="http://schemas.openxmlformats.org/officeDocument/2006/relationships/slideLayout" Target="/ppt/slideLayouts/slideLayout4.xml" Id="Rf0856e3602934eb5" /><Relationship Type="http://schemas.openxmlformats.org/officeDocument/2006/relationships/slideLayout" Target="/ppt/slideLayouts/slideLayout5.xml" Id="Rbc5cbd21a1d94ffe" /><Relationship Type="http://schemas.openxmlformats.org/officeDocument/2006/relationships/slideLayout" Target="/ppt/slideLayouts/slideLayout6.xml" Id="Rc5e449e56d674eb4" /><Relationship Type="http://schemas.openxmlformats.org/officeDocument/2006/relationships/slideLayout" Target="/ppt/slideLayouts/slideLayout7.xml" Id="Rbfbc915ae70e4ef9" /><Relationship Type="http://schemas.openxmlformats.org/officeDocument/2006/relationships/slideLayout" Target="/ppt/slideLayouts/slideLayout8.xml" Id="R7a86221af58b4a2a" /><Relationship Type="http://schemas.openxmlformats.org/officeDocument/2006/relationships/slideLayout" Target="/ppt/slideLayouts/slideLayout9.xml" Id="R3767527b36e046cf" /><Relationship Type="http://schemas.openxmlformats.org/officeDocument/2006/relationships/slideLayout" Target="/ppt/slideLayouts/slideLayout10.xml" Id="R4b7e653de69d4863" /><Relationship Type="http://schemas.openxmlformats.org/officeDocument/2006/relationships/slideLayout" Target="/ppt/slideLayouts/slideLayout11.xml" Id="R63506dd3112a413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506465D-87E8-415D-B371-7F266D180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E78190-38F1-4DCE-8D16-DA5FA15F2F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99888F-AC56-4EF9-A291-353A1E9EF7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9/16/2026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10A8E7-58F1-49F5-99A7-AC173F71BF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F69C1C-15AD-478E-8CBF-D6AAAF27E3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e095cfddb4e77"/>
    <p:sldLayoutId xmlns:r="http://schemas.openxmlformats.org/officeDocument/2006/relationships" id="2147483650" r:id="R6a1add4c9c594403"/>
    <p:sldLayoutId xmlns:r="http://schemas.openxmlformats.org/officeDocument/2006/relationships" id="2147483651" r:id="R53f36a29ed6b449c"/>
    <p:sldLayoutId xmlns:r="http://schemas.openxmlformats.org/officeDocument/2006/relationships" id="2147483652" r:id="Rf0856e3602934eb5"/>
    <p:sldLayoutId xmlns:r="http://schemas.openxmlformats.org/officeDocument/2006/relationships" id="2147483653" r:id="Rbc5cbd21a1d94ffe"/>
    <p:sldLayoutId xmlns:r="http://schemas.openxmlformats.org/officeDocument/2006/relationships" id="2147483654" r:id="Rc5e449e56d674eb4"/>
    <p:sldLayoutId xmlns:r="http://schemas.openxmlformats.org/officeDocument/2006/relationships" id="2147483655" r:id="Rbfbc915ae70e4ef9"/>
    <p:sldLayoutId xmlns:r="http://schemas.openxmlformats.org/officeDocument/2006/relationships" id="2147483656" r:id="R7a86221af58b4a2a"/>
    <p:sldLayoutId xmlns:r="http://schemas.openxmlformats.org/officeDocument/2006/relationships" id="2147483657" r:id="R3767527b36e046cf"/>
    <p:sldLayoutId xmlns:r="http://schemas.openxmlformats.org/officeDocument/2006/relationships" id="2147483658" r:id="R4b7e653de69d4863"/>
    <p:sldLayoutId xmlns:r="http://schemas.openxmlformats.org/officeDocument/2006/relationships" id="2147483659" r:id="R63506dd3112a4133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466b2632564e7e" /><Relationship Type="http://schemas.openxmlformats.org/officeDocument/2006/relationships/image" Target="/ppt/media/image.png" Id="R9970fb117ad04a62" /><Relationship Type="http://schemas.openxmlformats.org/officeDocument/2006/relationships/image" Target="/ppt/media/image2.png" Id="R19a196de06be4bf6" /><Relationship Type="http://schemas.openxmlformats.org/officeDocument/2006/relationships/notesSlide" Target="/ppt/notesSlides/notesSlide1.xml" Id="R1667bc1aba374a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4a74ab2697417a" /><Relationship Type="http://schemas.openxmlformats.org/officeDocument/2006/relationships/image" Target="/ppt/media/image3.png" Id="R15ca1cacfaae4446" /><Relationship Type="http://schemas.openxmlformats.org/officeDocument/2006/relationships/image" Target="/ppt/media/image.svg" Id="R3feb26d9e61b444b" /><Relationship Type="http://schemas.openxmlformats.org/officeDocument/2006/relationships/notesSlide" Target="/ppt/notesSlides/notesSlide2.xml" Id="R661ce78e44f74f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f411dd807d4d49" /><Relationship Type="http://schemas.openxmlformats.org/officeDocument/2006/relationships/image" Target="/ppt/media/image4.png" Id="R006dee6a79e6499f" /><Relationship Type="http://schemas.openxmlformats.org/officeDocument/2006/relationships/image" Target="/ppt/media/image2.svg" Id="Ra0b73cf015604f47" /><Relationship Type="http://schemas.openxmlformats.org/officeDocument/2006/relationships/notesSlide" Target="/ppt/notesSlides/notesSlide3.xml" Id="R5461ef65cb4b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8a8275b8104b2d" /><Relationship Type="http://schemas.openxmlformats.org/officeDocument/2006/relationships/notesSlide" Target="/ppt/notesSlides/notesSlide4.xml" Id="R64ff0c1837e845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238a07d0b744ae0" /><Relationship Type="http://schemas.openxmlformats.org/officeDocument/2006/relationships/image" Target="/ppt/media/image5.png" Id="R0d28e3e0e4c1493e" /><Relationship Type="http://schemas.openxmlformats.org/officeDocument/2006/relationships/image" Target="/ppt/media/image3.svg" Id="Rb6697ee5d0594dd0" /><Relationship Type="http://schemas.openxmlformats.org/officeDocument/2006/relationships/notesSlide" Target="/ppt/notesSlides/notesSlide5.xml" Id="R256a15e99f874e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d48e2d821d4c90" /><Relationship Type="http://schemas.openxmlformats.org/officeDocument/2006/relationships/image" Target="/ppt/media/image6.png" Id="Rb44a51befc9e4f62" /><Relationship Type="http://schemas.openxmlformats.org/officeDocument/2006/relationships/image" Target="/ppt/media/image4.svg" Id="R2f7dd822f93b4c31" /><Relationship Type="http://schemas.openxmlformats.org/officeDocument/2006/relationships/notesSlide" Target="/ppt/notesSlides/notesSlide6.xml" Id="R2e53ec573c6c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0c0cf1fc894aef" /><Relationship Type="http://schemas.openxmlformats.org/officeDocument/2006/relationships/image" Target="/ppt/media/image7.png" Id="R7f9e2f660fb340dc" /><Relationship Type="http://schemas.openxmlformats.org/officeDocument/2006/relationships/image" Target="/ppt/media/image5.svg" Id="R09b9c5adefad462b" /><Relationship Type="http://schemas.openxmlformats.org/officeDocument/2006/relationships/notesSlide" Target="/ppt/notesSlides/notesSlide7.xml" Id="Read56651e60441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1a2416e2fe431b" /><Relationship Type="http://schemas.openxmlformats.org/officeDocument/2006/relationships/image" Target="/ppt/media/image7.png" Id="R62a1a6ace09e441b" /><Relationship Type="http://schemas.openxmlformats.org/officeDocument/2006/relationships/image" Target="/ppt/media/image5.svg" Id="Rbd29a6828ece4303" /><Relationship Type="http://schemas.openxmlformats.org/officeDocument/2006/relationships/image" Target="/ppt/media/image8.png" Id="R92b1b18d9261445a" /><Relationship Type="http://schemas.openxmlformats.org/officeDocument/2006/relationships/notesSlide" Target="/ppt/notesSlides/notesSlide8.xml" Id="R3ba53b179dc749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d8b9a360fd4893" /><Relationship Type="http://schemas.openxmlformats.org/officeDocument/2006/relationships/image" Target="/ppt/media/image9.png" Id="Rdda8628c338147c3" /><Relationship Type="http://schemas.openxmlformats.org/officeDocument/2006/relationships/image" Target="/ppt/media/image6.svg" Id="R6505d1e509a44d63" /><Relationship Type="http://schemas.openxmlformats.org/officeDocument/2006/relationships/image" Target="/ppt/media/image10.png" Id="R84268f6ba7354e9a" /><Relationship Type="http://schemas.openxmlformats.org/officeDocument/2006/relationships/notesSlide" Target="/ppt/notesSlides/notesSlide9.xml" Id="R3b79d8802e3f46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6be1a1920a4bf9" /><Relationship Type="http://schemas.openxmlformats.org/officeDocument/2006/relationships/image" Target="/ppt/media/image11.png" Id="Rabb47a11e8694fcf" /><Relationship Type="http://schemas.openxmlformats.org/officeDocument/2006/relationships/image" Target="/ppt/media/image7.svg" Id="R0729cff1bed043f2" /><Relationship Type="http://schemas.openxmlformats.org/officeDocument/2006/relationships/notesSlide" Target="/ppt/notesSlides/notesSlide10.xml" Id="Ra0faca9ff4d74c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0c76d1c41b4e20" /><Relationship Type="http://schemas.openxmlformats.org/officeDocument/2006/relationships/image" Target="/ppt/media/image12.png" Id="R726580433f1b4994" /><Relationship Type="http://schemas.openxmlformats.org/officeDocument/2006/relationships/image" Target="/ppt/media/image8.svg" Id="R9985f40333bf49c9" /><Relationship Type="http://schemas.openxmlformats.org/officeDocument/2006/relationships/notesSlide" Target="/ppt/notesSlides/notesSlide11.xml" Id="R7826fb1170fd44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c32db2eb3e41d4" /><Relationship Type="http://schemas.openxmlformats.org/officeDocument/2006/relationships/image" Target="/ppt/media/image13.png" Id="R8fe7dbea331a426a" /><Relationship Type="http://schemas.openxmlformats.org/officeDocument/2006/relationships/image" Target="/ppt/media/image9.svg" Id="R73cbbf663b1b4bf6" /><Relationship Type="http://schemas.openxmlformats.org/officeDocument/2006/relationships/notesSlide" Target="/ppt/notesSlides/notesSlide12.xml" Id="Rcab90c961b1048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7db51bcfe54177" /><Relationship Type="http://schemas.openxmlformats.org/officeDocument/2006/relationships/notesSlide" Target="/ppt/notesSlides/notesSlide13.xml" Id="Rdd702a1cb43d4e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098B14C-0C0F-4026-85B4-2FBFC6C8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0500"/>
            <a:ext cx="1299889" cy="1278575"/>
          </a:xfrm>
          <a:custGeom xmlns:a="http://schemas.openxmlformats.org/drawingml/2006/main"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970fb117ad04a62"/>
            <a:stretch>
              <a:fillRect l="-15070" t="-4622" r="-22184" b="-2965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C4C3DD9-A012-4679-9678-5DCDAA54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7790" y="190500"/>
            <a:ext cx="2519089" cy="945897"/>
          </a:xfrm>
          <a:custGeom xmlns:a="http://schemas.openxmlformats.org/drawingml/2006/main"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a196de06be4bf6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EF484E58-69C5-4D2D-B293-3203D409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061" y="534627"/>
            <a:ext cx="11180668" cy="25070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96"/>
              </a:lnSpc>
              <a:buNone/>
            </a:pPr>
            <a:r>
              <a:rPr sz="4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</a:rPr>
              <a:t>Artificial Intelligence and Data Science</a:t>
            </a:r>
          </a:p>
          <a:p xmlns:a="http://schemas.openxmlformats.org/drawingml/2006/main">
            <a:pPr algn="ctr">
              <a:lnSpc>
                <a:spcPts val="6436"/>
              </a:lnSpc>
              <a:spcBef>
                <a:spcPct val="0"/>
              </a:spcBef>
              <a:buNone/>
            </a:pPr>
            <a:r>
              <a:rPr sz="45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</a:rPr>
              <a:t>Data Science and Visualization</a:t>
            </a:r>
          </a:p>
          <a:p xmlns:a="http://schemas.openxmlformats.org/drawingml/2006/main">
            <a:pPr algn="ctr">
              <a:lnSpc>
                <a:spcPts val="6436"/>
              </a:lnSpc>
              <a:spcBef>
                <a:spcPct val="0"/>
              </a:spcBef>
              <a:buNone/>
            </a:pPr>
            <a:r>
              <a:rPr sz="45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</a:rPr>
              <a:t>24ADI204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075BF87-B1F5-4C65-A4D3-9DAEDAF2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804" y="3412505"/>
            <a:ext cx="10410901" cy="1262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985"/>
              </a:lnSpc>
              <a:buNone/>
            </a:pPr>
            <a:r>
              <a:rPr sz="3561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DATA-VIZ HACK-A-BIT (2026-2027) </a:t>
            </a:r>
          </a:p>
          <a:p xmlns:a="http://schemas.openxmlformats.org/drawingml/2006/main">
            <a:pPr algn="ctr">
              <a:lnSpc>
                <a:spcPts val="4985"/>
              </a:lnSpc>
              <a:spcBef>
                <a:spcPct val="0"/>
              </a:spcBef>
              <a:buNone/>
            </a:pPr>
            <a:endParaRPr sz="3561" b="1" i="1">
              <a:solidFill>
                <a:srgbClr val="000000"/>
              </a:solidFill>
              <a:latin typeface="Poppins Bold Italics"/>
              <a:ea typeface="Poppins Bold Italics"/>
              <a:cs typeface="Poppins Bold Italics"/>
            </a:endParaRP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33AA2F4-672D-4F4A-A301-7E2DB24E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777" y="5507337"/>
            <a:ext cx="4887823" cy="6435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067"/>
              </a:lnSpc>
              <a:spcBef>
                <a:spcPct val="0"/>
              </a:spcBef>
              <a:buNone/>
            </a:pPr>
            <a:r>
              <a:rPr sz="3619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Number: 4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5064203D-65AF-4EE3-BFB2-FAE28106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5918"/>
            <a:ext cx="6324600" cy="5033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963"/>
              </a:lnSpc>
              <a:spcBef>
                <a:spcPct val="0"/>
              </a:spcBef>
              <a:buNone/>
            </a:pPr>
            <a:r>
              <a:rPr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FINAL REVIEW (Sept 2026)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CA4C1-8272-4E07-9B1F-936156A1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762750"/>
            <a:ext cx="14097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75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3975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EMPLOYEE ATTRITION EVIDENCE 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A8F17-07D5-4C8E-8857-C51343B8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600950"/>
            <a:ext cx="1162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Weeks 1–9 · analysis, PCA and narrative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951280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B45A037-E7F3-4462-940E-8D3E513F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17476C0D-557A-4769-BB15-264E4441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63740CD-AEAC-42A6-9263-812DEC08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48" y="923093"/>
            <a:ext cx="8840169" cy="1185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229"/>
              </a:lnSpc>
              <a:spcBef>
                <a:spcPct val="0"/>
              </a:spcBef>
              <a:buNone/>
            </a:pPr>
            <a:r>
              <a:rPr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Problem Statement </a:t>
            </a: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0C48DF5-5A33-4CC0-923D-7EBAFDD7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625" y="3363003"/>
            <a:ext cx="1906078" cy="1732798"/>
          </a:xfrm>
          <a:custGeom xmlns:a="http://schemas.openxmlformats.org/drawingml/2006/main"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5ca1cacfaae4446">
              <a:extLst>
                <a:ext uri="{96DAC541-7B7A-43D3-8B79-37D633B846F1}">
                  <asvg:svgBlip xmlns:asvg="http://schemas.microsoft.com/office/drawing/2016/SVG/main" r:embed="R3feb26d9e61b444b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05807-7A82-411E-AEDC-2D517576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5ECDD-A870-439D-B42D-DD76B09A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38500"/>
            <a:ext cx="13506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Employee attrition analysis often starts with patterns before checking whether the data are reliable.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41FB3-C8EF-4D54-B7D8-C86E95C4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9371E-DC4F-4029-8AAD-16188DA8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57750"/>
            <a:ext cx="13506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This file contains missing values, duplicate rows and fields with uncertain definitions.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005ED-D589-4823-B7A6-8DA13760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591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4699E-FE28-4C09-B0AB-DD258EF7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477000"/>
            <a:ext cx="13506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Our question: which observed differences remain credible after transparent cleaning checks?</a:t>
            </a:r>
          </a:p>
        </p:txBody>
      </p:sp>
    </p:spTree>
    <p:extLst>
      <p:ext uri="{BB962C8B-B14F-4D97-AF65-F5344CB8AC3E}">
        <p14:creationId xmlns:p14="http://schemas.microsoft.com/office/powerpoint/2010/main" val="2094642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7FCACFE-B2D2-4FC4-BF99-A16DF616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95BAE8C-CCF0-433F-B565-CB6E953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65350BC-F5AA-4369-94E2-1CC9D20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48" y="923093"/>
            <a:ext cx="8840169" cy="1185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229"/>
              </a:lnSpc>
              <a:spcBef>
                <a:spcPct val="0"/>
              </a:spcBef>
              <a:buNone/>
            </a:pPr>
            <a:r>
              <a:rPr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Project Objectives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95367E2-8386-4059-B860-64808D12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0631" y="3907276"/>
            <a:ext cx="14707123" cy="5055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326390" lvl="1" algn="ctr">
              <a:lnSpc>
                <a:spcPts val="4235"/>
              </a:lnSpc>
              <a:spcBef>
                <a:spcPct val="0"/>
              </a:spcBef>
              <a:buNone/>
            </a:pPr>
            <a:endParaRPr sz="3000">
              <a:solidFill>
                <a:srgbClr val="545454"/>
              </a:solidFill>
            </a:endParaR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2B62D16-D2F8-4A9A-957C-126A416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53" y="3315304"/>
            <a:ext cx="1828196" cy="1828196"/>
          </a:xfrm>
          <a:custGeom xmlns:a="http://schemas.openxmlformats.org/drawingml/2006/main"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6dee6a79e6499f">
              <a:extLst>
                <a:ext uri="{96DAC541-7B7A-43D3-8B79-37D633B846F1}">
                  <asvg:svgBlip xmlns:asvg="http://schemas.microsoft.com/office/drawing/2016/SVG/main" r:embed="Ra0b73cf015604f47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AB5B6-1811-4057-895B-F369403F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62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076B1-5288-4EAB-996F-B62B60A5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0"/>
            <a:ext cx="13411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Audit the 74,610-row dataset and document its origin, types and quality issues.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27507-8D8B-4242-9FFC-EFB477F8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00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3BCB9-3B8A-4441-951D-4ABDA900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86275"/>
            <a:ext cx="13411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Create a reproducible cleaned baseline without silently deleting unusual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95C16-648B-4859-98BA-B8D51DA7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38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5DB45-720C-439E-A5E2-9E1EE46E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924550"/>
            <a:ext cx="13411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Explore single-variable and group distributions with clear charts.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EB9BC-00E7-4312-8933-B7595F82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4771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3D58B-E09A-4D1A-B17D-5A48D11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362825"/>
            <a:ext cx="13411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Check sample size, uncertainty and sensitivity before calling a pattern robust.</a:t>
            </a:r>
          </a:p>
        </p:txBody>
      </p:sp>
    </p:spTree>
    <p:extLst>
      <p:ext uri="{BB962C8B-B14F-4D97-AF65-F5344CB8AC3E}">
        <p14:creationId xmlns:p14="http://schemas.microsoft.com/office/powerpoint/2010/main" val="2105524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E8B3CFB-AF41-4C63-8CC8-B00E7E45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3164802C-52F9-4D9D-B685-57740430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B0DA094-65FA-472F-8D68-A4E598D4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48" y="923093"/>
            <a:ext cx="8840169" cy="1185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229"/>
              </a:lnSpc>
              <a:spcBef>
                <a:spcPct val="0"/>
              </a:spcBef>
              <a:buNone/>
            </a:pPr>
            <a:r>
              <a:rPr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Scope of the Project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9830326-9244-16C5-6A34-4705E606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183" y="4095267"/>
            <a:ext cx="2743200" cy="5355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endParaRPr sz="3000"/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BABC8-68CD-4863-B4CB-5027FB1A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81375"/>
            <a:ext cx="4238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10B51-A946-482B-8EC8-5FA47801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813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191F9-1074-44E0-A7A6-E1EEB2A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552825"/>
            <a:ext cx="37814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WEEKS 1–5</a:t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Audit and EDA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Source, cleaning, distributions and review 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21E4C-2B0B-41D4-B9F5-14E29DF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4238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1813D-09BD-4369-B6A2-D3AFEE3B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B0F65-BAAB-4B77-975E-A06950D7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52825"/>
            <a:ext cx="37814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WEEKS 6–7</a:t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Feature engineering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Transform, encode, select and run PCA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EF139-265C-422D-AA91-8FEE88E7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81375"/>
            <a:ext cx="4238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389CB-28A8-4DBC-A245-A3D242F9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81375"/>
            <a:ext cx="857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9DE7D-8FFA-4213-BAC2-DC6A250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552825"/>
            <a:ext cx="3781425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WEEKS 8–9</a:t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Narrative 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Interactive evidence, final report and viva 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31336-275F-45A3-A264-BA9A328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7191375"/>
            <a:ext cx="1285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Novelty: each claim includes uncertainty, cleaning sensitivity and job-role checks.</a:t>
            </a:r>
          </a:p>
        </p:txBody>
      </p:sp>
    </p:spTree>
    <p:extLst>
      <p:ext uri="{BB962C8B-B14F-4D97-AF65-F5344CB8AC3E}">
        <p14:creationId xmlns:p14="http://schemas.microsoft.com/office/powerpoint/2010/main" val="840673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E213938-9412-4C60-AB66-E95B4526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5DDD880-F264-419D-A790-4A541F0A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3A3B428-49A1-4923-A17D-507C4A65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2448" y="923093"/>
            <a:ext cx="8840169" cy="1185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9229"/>
              </a:lnSpc>
              <a:spcBef>
                <a:spcPct val="0"/>
              </a:spcBef>
              <a:buNone/>
            </a:pPr>
            <a:r>
              <a:rPr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Dataset Description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8DF83C3-3B77-44DB-B573-24225B2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709" y="3231254"/>
            <a:ext cx="9568085" cy="3744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235"/>
              </a:lnSpc>
              <a:buNone/>
            </a:pPr>
            <a:r>
              <a:rPr sz="3000" i="1">
                <a:solidFill>
                  <a:srgbClr val="545454"/>
                </a:solidFill>
                <a:latin typeface="Poppins Italics"/>
                <a:ea typeface="Poppins Italics"/>
                <a:cs typeface="Poppins Italics"/>
              </a:rPr>
              <a:t/>
            </a:r>
            <a:endParaRPr/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B0A53CC-F958-4839-A5AE-1FC177D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84" y="3326504"/>
            <a:ext cx="1561780" cy="1561780"/>
          </a:xfrm>
          <a:custGeom xmlns:a="http://schemas.openxmlformats.org/drawingml/2006/main"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d28e3e0e4c1493e">
              <a:extLst>
                <a:ext uri="{96DAC541-7B7A-43D3-8B79-37D633B846F1}">
                  <asvg:svgBlip xmlns:asvg="http://schemas.microsoft.com/office/drawing/2016/SVG/main" r:embed="Rb6697ee5d0594dd0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AC2C6-69E1-4C0F-BF80-F193CB67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90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D8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D87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CB278-14BF-4E8A-BD8E-A70CCF8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908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Kaggle / Nikhil Bhosle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869CD-32D0-4BEB-ACAF-2E66C8F3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D8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D87"/>
                </a:solidFill>
                <a:latin typeface="Calibri"/>
                <a:ea typeface="Calibri"/>
                <a:cs typeface="Calibri"/>
              </a:rPr>
              <a:t>RAW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C72A0-3173-457F-B10F-2415D3BA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8625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74,610 records · 24 original columns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D629A-7B9E-44EC-8E7A-141BC1B9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816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D8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D87"/>
                </a:solidFill>
                <a:latin typeface="Calibri"/>
                <a:ea typeface="Calibri"/>
                <a:cs typeface="Calibri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C7556-6271-4111-A5BA-CEA2252B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38162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Attrition: Left or Stayed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A8E12-5621-46FA-8FFD-F51D2255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D8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D87"/>
                </a:solidFill>
                <a:latin typeface="Calibri"/>
                <a:ea typeface="Calibri"/>
                <a:cs typeface="Calibri"/>
              </a:rPr>
              <a:t>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63BF7-60CD-4AE4-AF90-01C468BA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77000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Structured employee-level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29FB0-0415-4301-BEC9-39EC5ADC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5723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D87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87D87"/>
                </a:solidFill>
                <a:latin typeface="Calibri"/>
                <a:ea typeface="Calibri"/>
                <a:cs typeface="Calibri"/>
              </a:rPr>
              <a:t>CLEAN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F15CE-661E-41F3-8E29-4A3F4A49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5723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74,498 rows after 112 exact duplicates</a:t>
            </a:r>
          </a:p>
        </p:txBody>
      </p:sp>
    </p:spTree>
    <p:extLst>
      <p:ext uri="{BB962C8B-B14F-4D97-AF65-F5344CB8AC3E}">
        <p14:creationId xmlns:p14="http://schemas.microsoft.com/office/powerpoint/2010/main" val="1708461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553B9C5-52E1-4CF6-A3E3-66D9CB58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CEE714B2-F87B-4BBB-BF6C-2111A8E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197AD4C-D4FE-4BBF-A5CB-90E6E55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Methodology(Process / Workflow)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BF98ED5-52F3-4491-9EE1-6F63BB6C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709" y="3231254"/>
            <a:ext cx="9568085" cy="32056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235"/>
              </a:lnSpc>
              <a:buNone/>
            </a:pPr>
            <a:r>
              <a:rPr sz="3000" i="1">
                <a:solidFill>
                  <a:srgbClr val="545454"/>
                </a:solidFill>
                <a:latin typeface="Poppins Italics"/>
                <a:ea typeface="Poppins Italics"/>
                <a:cs typeface="Poppins Italics"/>
              </a:rPr>
              <a:t/>
            </a:r>
            <a:endParaRPr/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3257FD78-16B4-4C3D-8977-5EDB0407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87" y="3086100"/>
            <a:ext cx="2066922" cy="2057400"/>
          </a:xfrm>
          <a:custGeom xmlns:a="http://schemas.openxmlformats.org/drawingml/2006/main"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4a51befc9e4f62">
              <a:extLst>
                <a:ext uri="{96DAC541-7B7A-43D3-8B79-37D633B846F1}">
                  <asvg:svgBlip xmlns:asvg="http://schemas.microsoft.com/office/drawing/2016/SVG/main" r:embed="R2f7dd822f93b4c31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9FFD1-B58F-414E-8516-3DEBF573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6667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3B9C27-C6B0-45FC-93A0-E340F7BB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857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41005-5BC5-4AC2-8B4E-0D790E62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14700"/>
            <a:ext cx="62103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1   Audit and clean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Load raw data; deduplicate, impute and retain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5C849-6AA6-464A-9545-01F04EEA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6667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62EAE-6E00-4097-AC74-84ABCA8C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857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36C34-68D0-4C52-B780-989D566E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14700"/>
            <a:ext cx="62103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2   Explore and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Distributions, intervals, cleaning sensitivity and role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79A93-473E-4922-8BCB-491FB621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57875"/>
            <a:ext cx="6667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0B5B1-B5F9-4F45-B918-5A5655D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57875"/>
            <a:ext cx="857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D4766-C1A3-490F-A831-6FAC2EB5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29325"/>
            <a:ext cx="62103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3   Transform and encode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Income Yeo–Johnson; numeric scaling; one-hot encoding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5C532-80FA-4F43-AD21-A4F46BBF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57875"/>
            <a:ext cx="6667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D9E49-0B9C-4049-A645-A81E6D1C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57875"/>
            <a:ext cx="857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7E1B7-494A-4402-A58A-FCC16752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029325"/>
            <a:ext cx="6210300" cy="1895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4   PCA and 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Variance retention, 2D/3D maps and six story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FDF4C-A2F8-46A9-9B46-08255DA5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8953500"/>
            <a:ext cx="1238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Nine executed notebooks · 14 automated tests passed · eight interactive plot types</a:t>
            </a:r>
          </a:p>
        </p:txBody>
      </p:sp>
    </p:spTree>
    <p:extLst>
      <p:ext uri="{BB962C8B-B14F-4D97-AF65-F5344CB8AC3E}">
        <p14:creationId xmlns:p14="http://schemas.microsoft.com/office/powerpoint/2010/main" val="552267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529B9FD-E765-4F3B-814D-AD65B63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A92940F-F9BD-4896-A85A-2C8A7E81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3505AB9-CF0E-4178-9476-25178A3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49" y="2655777"/>
            <a:ext cx="9568085" cy="161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35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F97214D-4DB1-4E59-ACB6-8894B7D6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87" y="3118147"/>
            <a:ext cx="1765895" cy="2312481"/>
          </a:xfrm>
          <a:custGeom xmlns:a="http://schemas.openxmlformats.org/drawingml/2006/main"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9e2f660fb340dc">
              <a:extLst>
                <a:ext uri="{96DAC541-7B7A-43D3-8B79-37D633B846F1}">
                  <asvg:svgBlip xmlns:asvg="http://schemas.microsoft.com/office/drawing/2016/SVG/main" r:embed="R09b9c5adefad462b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5BB809EF-1953-43C4-9D68-49BA1566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Results From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AFFBE-84A5-45C0-89DD-5A4A6F31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337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74,610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6AF90-7D71-410E-B894-1C931CA7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433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raw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E1EF9-49D2-45E3-8A40-E7F3DB63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112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8C6AD-68F0-476C-9046-AAABF2CF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exact duplicates removed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E7399-B7BF-47D4-8149-6589A14E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33750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4,325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34F7E-C40F-4BF2-80D6-433E77F8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43375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raw missing cells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895CC-17EA-4616-B6B9-7D95F5B7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34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0751C-17B2-4865-A51B-E60F089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138874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After deduplication: 1,897 distance and 2,381 tenure values median-imputed; flags kept.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7D268-77BF-41F8-B34C-9D6D7E45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2104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189DA-EA2C-4904-B90A-1CD9F487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096125"/>
            <a:ext cx="138874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Two corrupted education labels repaired; 151 income IQR outliers flagged.</a:t>
            </a:r>
          </a:p>
        </p:txBody>
      </p:sp>
    </p:spTree>
    <p:extLst>
      <p:ext uri="{BB962C8B-B14F-4D97-AF65-F5344CB8AC3E}">
        <p14:creationId xmlns:p14="http://schemas.microsoft.com/office/powerpoint/2010/main" val="826001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DA7F19D-227A-47BB-81BF-42D86A50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A4B0AD1-5035-4A07-A562-81483A2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35C6BD08-FCA7-4EF1-B899-D54FF0E3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149" y="2655777"/>
            <a:ext cx="11811356" cy="3752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35"/>
              </a:lnSpc>
              <a:buNone/>
            </a:pPr>
            <a:r>
              <a:t/>
            </a:r>
            <a:endParaRPr/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C261214-9A1B-4EC8-B121-0D0FCE07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87" y="3118147"/>
            <a:ext cx="1765895" cy="2312481"/>
          </a:xfrm>
          <a:custGeom xmlns:a="http://schemas.openxmlformats.org/drawingml/2006/main"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a1a6ace09e441b">
              <a:extLst>
                <a:ext uri="{96DAC541-7B7A-43D3-8B79-37D633B846F1}">
                  <asvg:svgBlip xmlns:asvg="http://schemas.microsoft.com/office/drawing/2016/SVG/main" r:embed="Rbd29a6828ece430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91E726D-EBD3-44E8-ABA9-BD5AAAA2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Results From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881CD-5902-4ED2-BDD6-958C569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14650"/>
            <a:ext cx="13906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Observed left share: 47.48%  (35,370 Left / 74,498 records)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1b18d9261445a"/>
          <a:stretch xmlns:a="http://schemas.openxmlformats.org/drawingml/2006/main"/>
        </p:blipFill>
        <p:spPr>
          <a:xfrm xmlns:a="http://schemas.openxmlformats.org/drawingml/2006/main">
            <a:off x="3629461" y="3762375"/>
            <a:ext cx="11029077" cy="5286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44126-1973-4D8F-8B75-F03F8F7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220200"/>
            <a:ext cx="1428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Largest selected gaps: limited remote access +28.12 pp; poor/fair balance +19.54 pp.</a:t>
            </a:r>
          </a:p>
        </p:txBody>
      </p:sp>
    </p:spTree>
    <p:extLst>
      <p:ext uri="{BB962C8B-B14F-4D97-AF65-F5344CB8AC3E}">
        <p14:creationId xmlns:p14="http://schemas.microsoft.com/office/powerpoint/2010/main" val="1313516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FABFE1F-4DA7-437F-AC08-3004B68C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9FFFC62-D341-465D-895F-C9965821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ABB99EF-7252-4FD9-885E-B251A7BA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79" y="3424008"/>
            <a:ext cx="2201327" cy="1929163"/>
          </a:xfrm>
          <a:custGeom xmlns:a="http://schemas.openxmlformats.org/drawingml/2006/main"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a8628c338147c3">
              <a:extLst>
                <a:ext uri="{96DAC541-7B7A-43D3-8B79-37D633B846F1}">
                  <asvg:svgBlip xmlns:asvg="http://schemas.microsoft.com/office/drawing/2016/SVG/main" r:embed="R6505d1e509a44d63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44C4F1D-D527-4202-9212-DA26138E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883" y="2998259"/>
            <a:ext cx="9568085" cy="2685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35"/>
              </a:lnSpc>
              <a:buNone/>
            </a:pPr>
            <a:r>
              <a:rPr sz="3025" i="1">
                <a:solidFill>
                  <a:srgbClr val="545454"/>
                </a:solidFill>
                <a:latin typeface="Poppins Italics"/>
                <a:ea typeface="Poppins Italics"/>
                <a:cs typeface="Poppins Italics"/>
              </a:rPr>
              <a:t/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4034D52-A52B-4CAD-ACA2-EAFB59A9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Final Results: Features &amp; PCA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520CE-A3FF-4584-97FB-98EAB7E2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52750"/>
            <a:ext cx="1381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40 encoded features → 24 components → 90.10% variance retained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68f6ba7354e9a"/>
          <a:stretch xmlns:a="http://schemas.openxmlformats.org/drawingml/2006/main"/>
        </p:blipFill>
        <p:spPr>
          <a:xfrm xmlns:a="http://schemas.openxmlformats.org/drawingml/2006/main">
            <a:off x="2476500" y="3970395"/>
            <a:ext cx="13430250" cy="434646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D03F1-6987-46A4-9265-12D631A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8667750"/>
            <a:ext cx="1333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4A5869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4A5869"/>
                </a:solidFill>
                <a:latin typeface="Calibri"/>
                <a:ea typeface="Calibri"/>
                <a:cs typeface="Calibri"/>
              </a:rPr>
              <a:t>Income skew: 5.208 → 0.038. PC1 + PC2 show only 22.24% of variance.</a:t>
            </a:r>
          </a:p>
        </p:txBody>
      </p:sp>
    </p:spTree>
    <p:extLst>
      <p:ext uri="{BB962C8B-B14F-4D97-AF65-F5344CB8AC3E}">
        <p14:creationId xmlns:p14="http://schemas.microsoft.com/office/powerpoint/2010/main" val="17155420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3DE4F38-419F-4F30-94A0-786B7D3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966B660F-8950-49B7-BB98-BF8D375F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8C2F941-E6B3-4B85-BB60-45817DD9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16" y="3187394"/>
            <a:ext cx="2395573" cy="2260550"/>
          </a:xfrm>
          <a:custGeom xmlns:a="http://schemas.openxmlformats.org/drawingml/2006/main"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b47a11e8694fcf">
              <a:extLst>
                <a:ext uri="{96DAC541-7B7A-43D3-8B79-37D633B846F1}">
                  <asvg:svgBlip xmlns:asvg="http://schemas.microsoft.com/office/drawing/2016/SVG/main" r:embed="R0729cff1bed043f2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2" name="Table 6"/>
          <p:cNvGraphicFramePr/>
          <p:nvPr/>
        </p:nvGraphicFramePr>
        <p:xfrm>
          <a:off xmlns:a="http://schemas.openxmlformats.org/drawingml/2006/main" x="2986755" y="2930228"/>
          <a:ext xmlns:a="http://schemas.openxmlformats.org/drawingml/2006/main" cx="13339985" cy="632807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11263"/>
                <a:gridCol w="6228722"/>
              </a:tblGrid>
              <a:tr h="1322412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buNone/>
                      </a:pPr>
                      <a:r>
                        <a:rPr sz="3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Team Member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buNone/>
                      </a:pPr>
                      <a:r>
                        <a:rPr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</a:rPr>
                        <a:t>Roles &amp; Responsibilities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70057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Rohith Varma (25BAD090)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Data engineering: source, quality audit and cleaning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10453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Saurav Santhosh (25BAD104)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Data analysis: comparisons and evidence checks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02938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Sinan Ubaid (25BAD107)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Visualization: EDA charts and interpretation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7527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Nishanth (25BAD070)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Lead / storyteller: documentation and review narrative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46940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Team No. 4 (shared)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buNone/>
                      </a:pPr>
                      <a:r>
                        <a:t>Notebook review, testing and presentation</a:t>
                      </a:r>
                      <a:endParaRPr sz="1100"/>
                    </a:p>
                  </a:txBody>
                  <a:tcPr marL="190500" marR="190500" marT="190500" marB="190500" anchor="ctr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CD08C099-E44F-4FE5-A07B-47A5C24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Roles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47882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E954ED4-833B-40F3-A319-69DB719E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D6B3DB31-7B98-49EA-8B51-DA937B61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08070E9C-5E49-42B8-AC7A-C3CCB154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" y="3093509"/>
            <a:ext cx="2249599" cy="2229148"/>
          </a:xfrm>
          <a:custGeom xmlns:a="http://schemas.openxmlformats.org/drawingml/2006/main"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6580433f1b4994">
              <a:extLst>
                <a:ext uri="{96DAC541-7B7A-43D3-8B79-37D633B846F1}">
                  <asvg:svgBlip xmlns:asvg="http://schemas.microsoft.com/office/drawing/2016/SVG/main" r:embed="R9985f40333bf49c9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57B701-0606-41ED-8208-BA7F7BF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883" y="2998259"/>
            <a:ext cx="9568085" cy="32188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235"/>
              </a:lnSpc>
              <a:buNone/>
            </a:pPr>
            <a:r>
              <a:rPr sz="3025" i="1">
                <a:solidFill>
                  <a:srgbClr val="545454"/>
                </a:solidFill>
                <a:latin typeface="Poppins Italics"/>
                <a:ea typeface="Poppins Italics"/>
                <a:cs typeface="Poppins Italics"/>
              </a:rPr>
              <a:t/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BD7F09BB-78DA-49EC-B1A7-836C0B11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 Challenges Faced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A4290-F1C2-4D5C-B2E0-2EF25EE1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05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304E9-426D-4ADA-ABDA-53C28794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90875"/>
            <a:ext cx="13601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1,897 distance and 2,381 tenure values required imputation after deduplication.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FC1B2-6F83-4A9E-84EB-7EDEF90E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62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66E6F-DE23-45EA-8C20-CCB94E7F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48200"/>
            <a:ext cx="13601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17,824 records imply starting age below 14; tenure fields often disagree under one interpretation.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FB09A-51BB-4DA1-BFAE-AC7A295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219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70027-37D9-4C00-9538-5728D9A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105525"/>
            <a:ext cx="13601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The dataset does not define distance units, sampling period or label time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2B0B2-38E8-4627-9D1B-79FF4D6E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76771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33DB1-1090-44BE-B890-8C4AB58A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7562850"/>
            <a:ext cx="136017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Outliers and category patterns needed careful interpretation; left/stayed is fairly balanced.</a:t>
            </a:r>
          </a:p>
        </p:txBody>
      </p:sp>
    </p:spTree>
    <p:extLst>
      <p:ext uri="{BB962C8B-B14F-4D97-AF65-F5344CB8AC3E}">
        <p14:creationId xmlns:p14="http://schemas.microsoft.com/office/powerpoint/2010/main" val="18779796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CD8884C-1455-4FDF-85CA-FF902EB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2A9B3C6-2D4E-4AAE-8B2B-7FB8866F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AAA0E0B-CE4C-439E-998E-AEFB9170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02" y="3093509"/>
            <a:ext cx="2186679" cy="2434562"/>
          </a:xfrm>
          <a:custGeom xmlns:a="http://schemas.openxmlformats.org/drawingml/2006/main"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e7dbea331a426a">
              <a:extLst>
                <a:ext uri="{96DAC541-7B7A-43D3-8B79-37D633B846F1}">
                  <asvg:svgBlip xmlns:asvg="http://schemas.microsoft.com/office/drawing/2016/SVG/main" r:embed="R73cbbf663b1b4bf6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18A3A8-7D40-4048-9395-2EE85B6D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Future Work &amp; 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0EFE-886F-4297-B83D-0B37C8B0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38500"/>
            <a:ext cx="5905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3840B-EDEA-413B-81D7-51345E8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38500"/>
            <a:ext cx="857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F1DE3-3E14-439A-9984-FA9BB648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09950"/>
            <a:ext cx="54483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DELIVERED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Six dashboard chapters</a:t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Nine executed notebooks</a:t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Nine-page business insight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FD60F-6E1C-4DEE-B0C0-041E787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5905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19A74-6A88-400F-B960-AD2F4E67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857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FF4A4-D7D0-4B90-8271-B5848323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09950"/>
            <a:ext cx="54483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NEXT IN PRACTICE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Clarify source definitions; investigate working conditions; measure a prospective pilot.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E1714-F470-4350-99EA-F80D2EC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858000"/>
            <a:ext cx="1238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D63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2D63"/>
                </a:solidFill>
                <a:latin typeface="Calibri"/>
                <a:ea typeface="Calibri"/>
                <a:cs typeface="Calibri"/>
              </a:rPr>
              <a:t>A reproducible evidence workflow supports careful questions and a clear visual story.</a:t>
            </a:r>
          </a:p>
        </p:txBody>
      </p:sp>
    </p:spTree>
    <p:extLst>
      <p:ext uri="{BB962C8B-B14F-4D97-AF65-F5344CB8AC3E}">
        <p14:creationId xmlns:p14="http://schemas.microsoft.com/office/powerpoint/2010/main" val="925023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75CA0A9-491C-4267-AAB3-A5B735C9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76841"/>
            <a:ext cx="18288000" cy="2058569"/>
          </a:xfrm>
          <a:custGeom xmlns:a="http://schemas.openxmlformats.org/drawingml/2006/main">
            <a:rect l="l" t="t" r="r" b="b"/>
            <a:pathLst>
              <a:path w="3738189" h="420785">
                <a:moveTo>
                  <a:pt x="3534989" y="0"/>
                </a:moveTo>
                <a:lnTo>
                  <a:pt x="0" y="0"/>
                </a:lnTo>
                <a:lnTo>
                  <a:pt x="0" y="420785"/>
                </a:lnTo>
                <a:lnTo>
                  <a:pt x="3534989" y="420785"/>
                </a:lnTo>
                <a:lnTo>
                  <a:pt x="3738189" y="210393"/>
                </a:lnTo>
                <a:lnTo>
                  <a:pt x="3534989" y="0"/>
                </a:lnTo>
                <a:close/>
              </a:path>
            </a:pathLst>
          </a:custGeom>
          <a:solidFill xmlns:a="http://schemas.openxmlformats.org/drawingml/2006/main">
            <a:srgbClr val="112D63"/>
          </a:solidFill>
          <a:ln xmlns:a="http://schemas.openxmlformats.org/drawingml/2006/main" w="19050">
            <a:solidFill>
              <a:srgbClr val="112D6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AC2834BC-32B1-4528-803D-BA562AF4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50653"/>
            <a:ext cx="17728820" cy="23847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00"/>
              </a:lnSpc>
              <a:buNone/>
            </a:pPr>
            <a:endParaRPr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A85934A-82BE-4BB5-9BA3-FFB5C486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65" y="985640"/>
            <a:ext cx="16178870" cy="10695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8250"/>
              </a:lnSpc>
              <a:spcBef>
                <a:spcPct val="0"/>
              </a:spcBef>
              <a:buNone/>
            </a:pPr>
            <a:r>
              <a:rPr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</a:rPr>
              <a:t>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38487-9EC8-4B8C-B71C-3D5516F0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9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9493C-3875-49BB-A4A5-B585342C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95625"/>
            <a:ext cx="15030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Dataset: Nikhil Bhosle, “Employee Attrition Uncleaned Dataset,” Kaggle.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6DBE3-8470-41B3-A1D8-4F42F94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E98BC-05DE-4E68-840A-9787C69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15030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Course brief: DSV Rule Book (24ADI204), supplied by faculty.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688DE-A77D-4BE5-A892-62D89FDC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72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A006-1041-450C-BB40-8421A5FD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857875"/>
            <a:ext cx="15030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Project source: GitHub repository / DSV_PROJECT / Weeks 1–9 notebooks, dashboard and reports.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24770-6875-4A49-8C74-1137C60E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3533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D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1E754-7A40-450A-95F8-EC92D4C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7239000"/>
            <a:ext cx="15030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93254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93254"/>
                </a:solidFill>
                <a:latin typeface="Calibri"/>
                <a:ea typeface="Calibri"/>
                <a:cs typeface="Calibri"/>
              </a:rPr>
              <a:t>Methods: Newcombe intervals; scikit-learn transforms/PCA; Streamlit/Plotly (see report).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26F47-2880-470A-92F8-F8E3243C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8801100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D8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087D87"/>
                </a:solidFill>
                <a:latin typeface="Calibri"/>
                <a:ea typeface="Calibri"/>
                <a:cs typeface="Calibri"/>
              </a:rPr>
              <a:t>Dataset: kaggle.com/datasets/nikhilbhosle/employee-attrition-uncleaned-dataset</a:t>
            </a:r>
          </a:p>
        </p:txBody>
      </p:sp>
    </p:spTree>
    <p:extLst>
      <p:ext uri="{BB962C8B-B14F-4D97-AF65-F5344CB8AC3E}">
        <p14:creationId xmlns:p14="http://schemas.microsoft.com/office/powerpoint/2010/main" val="12677957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2026-09-25T09:24:15.2510000Z</dcterms:created>
  <dcterms:modified xsi:type="dcterms:W3CDTF">2026-09-25T09:24:15.2510000Z</dcterms:modified>
</coreProperties>
</file>